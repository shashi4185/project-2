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3" r:id="rId1"/>
  </p:sldMasterIdLst>
  <p:sldIdLst>
    <p:sldId id="446" r:id="rId2"/>
    <p:sldId id="447" r:id="rId3"/>
    <p:sldId id="445" r:id="rId4"/>
    <p:sldId id="257" r:id="rId5"/>
    <p:sldId id="270" r:id="rId6"/>
    <p:sldId id="271" r:id="rId7"/>
    <p:sldId id="258" r:id="rId8"/>
    <p:sldId id="419" r:id="rId9"/>
    <p:sldId id="420" r:id="rId10"/>
    <p:sldId id="443" r:id="rId11"/>
    <p:sldId id="407" r:id="rId12"/>
    <p:sldId id="413" r:id="rId13"/>
    <p:sldId id="404" r:id="rId14"/>
    <p:sldId id="414" r:id="rId15"/>
    <p:sldId id="405" r:id="rId16"/>
    <p:sldId id="444" r:id="rId17"/>
    <p:sldId id="268" r:id="rId18"/>
    <p:sldId id="383" r:id="rId19"/>
    <p:sldId id="384" r:id="rId20"/>
    <p:sldId id="279" r:id="rId21"/>
    <p:sldId id="280" r:id="rId22"/>
    <p:sldId id="281" r:id="rId23"/>
    <p:sldId id="282" r:id="rId24"/>
    <p:sldId id="283" r:id="rId25"/>
    <p:sldId id="284" r:id="rId26"/>
    <p:sldId id="285" r:id="rId27"/>
    <p:sldId id="260" r:id="rId28"/>
    <p:sldId id="265" r:id="rId29"/>
    <p:sldId id="269" r:id="rId30"/>
    <p:sldId id="415" r:id="rId31"/>
    <p:sldId id="416" r:id="rId32"/>
    <p:sldId id="417" r:id="rId33"/>
    <p:sldId id="418" r:id="rId34"/>
    <p:sldId id="262" r:id="rId35"/>
    <p:sldId id="425" r:id="rId36"/>
    <p:sldId id="426" r:id="rId37"/>
    <p:sldId id="427" r:id="rId38"/>
    <p:sldId id="428" r:id="rId39"/>
    <p:sldId id="432" r:id="rId40"/>
    <p:sldId id="429" r:id="rId41"/>
    <p:sldId id="431" r:id="rId42"/>
    <p:sldId id="430" r:id="rId43"/>
    <p:sldId id="263" r:id="rId44"/>
    <p:sldId id="398" r:id="rId45"/>
    <p:sldId id="399" r:id="rId46"/>
  </p:sldIdLst>
  <p:sldSz cx="18002250" cy="10080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75" userDrawn="1">
          <p15:clr>
            <a:srgbClr val="A4A3A4"/>
          </p15:clr>
        </p15:guide>
        <p15:guide id="2" pos="56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A470"/>
    <a:srgbClr val="A9BB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774" autoAdjust="0"/>
  </p:normalViewPr>
  <p:slideViewPr>
    <p:cSldViewPr>
      <p:cViewPr varScale="1">
        <p:scale>
          <a:sx n="53" d="100"/>
          <a:sy n="53" d="100"/>
        </p:scale>
        <p:origin x="850" y="77"/>
      </p:cViewPr>
      <p:guideLst>
        <p:guide orient="horz" pos="3175"/>
        <p:guide pos="567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4689" y="9408583"/>
            <a:ext cx="17997562" cy="6720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310858"/>
            <a:ext cx="17997562" cy="940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620203" y="1115589"/>
            <a:ext cx="14851856" cy="5241925"/>
          </a:xfrm>
        </p:spPr>
        <p:txBody>
          <a:bodyPr anchor="b">
            <a:normAutofit/>
          </a:bodyPr>
          <a:lstStyle>
            <a:lvl1pPr algn="l">
              <a:lnSpc>
                <a:spcPct val="85000"/>
              </a:lnSpc>
              <a:defRPr sz="11759" spc="-73"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624294" y="6549349"/>
            <a:ext cx="14851856" cy="1680104"/>
          </a:xfrm>
        </p:spPr>
        <p:txBody>
          <a:bodyPr lIns="91440" rIns="91440">
            <a:normAutofit/>
          </a:bodyPr>
          <a:lstStyle>
            <a:lvl1pPr marL="0" indent="0" algn="l">
              <a:buNone/>
              <a:defRPr sz="3528" cap="all" spc="294" baseline="0">
                <a:solidFill>
                  <a:schemeClr val="tx2"/>
                </a:solidFill>
                <a:latin typeface="+mj-lt"/>
              </a:defRPr>
            </a:lvl1pPr>
            <a:lvl2pPr marL="672038" indent="0" algn="ctr">
              <a:buNone/>
              <a:defRPr sz="3528"/>
            </a:lvl2pPr>
            <a:lvl3pPr marL="1344077" indent="0" algn="ctr">
              <a:buNone/>
              <a:defRPr sz="3528"/>
            </a:lvl3pPr>
            <a:lvl4pPr marL="2016115" indent="0" algn="ctr">
              <a:buNone/>
              <a:defRPr sz="2940"/>
            </a:lvl4pPr>
            <a:lvl5pPr marL="2688153" indent="0" algn="ctr">
              <a:buNone/>
              <a:defRPr sz="2940"/>
            </a:lvl5pPr>
            <a:lvl6pPr marL="3360191" indent="0" algn="ctr">
              <a:buNone/>
              <a:defRPr sz="2940"/>
            </a:lvl6pPr>
            <a:lvl7pPr marL="4032230" indent="0" algn="ctr">
              <a:buNone/>
              <a:defRPr sz="2940"/>
            </a:lvl7pPr>
            <a:lvl8pPr marL="4704268" indent="0" algn="ctr">
              <a:buNone/>
              <a:defRPr sz="2940"/>
            </a:lvl8pPr>
            <a:lvl9pPr marL="5376306" indent="0" algn="ctr">
              <a:buNone/>
              <a:defRPr sz="29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9F57792-3B58-412C-8E49-374E9A2A708D}" type="datetimeFigureOut">
              <a:rPr lang="en-US" smtClean="0"/>
              <a:pPr/>
              <a:t>6/5/2025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4E426D-34AF-498B-8637-309D41EC5182}" type="slidenum">
              <a:rPr lang="en-US" smtClean="0"/>
              <a:pPr/>
              <a:t>‹#›</a:t>
            </a:fld>
            <a:endParaRPr lang="en-US"/>
          </a:p>
        </p:txBody>
      </p:sp>
      <p:cxnSp>
        <p:nvCxnSpPr>
          <p:cNvPr id="9" name="Straight Connector 8"/>
          <p:cNvCxnSpPr/>
          <p:nvPr/>
        </p:nvCxnSpPr>
        <p:spPr>
          <a:xfrm>
            <a:off x="1783182" y="6384396"/>
            <a:ext cx="14581823"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977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F57792-3B58-412C-8E49-374E9A2A708D}" type="datetimeFigureOut">
              <a:rPr lang="en-US" smtClean="0"/>
              <a:pPr/>
              <a:t>6/5/2025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4E426D-34AF-498B-8637-309D41EC5182}" type="slidenum">
              <a:rPr lang="en-US" smtClean="0"/>
              <a:pPr/>
              <a:t>‹#›</a:t>
            </a:fld>
            <a:endParaRPr lang="en-US"/>
          </a:p>
        </p:txBody>
      </p:sp>
    </p:spTree>
    <p:extLst>
      <p:ext uri="{BB962C8B-B14F-4D97-AF65-F5344CB8AC3E}">
        <p14:creationId xmlns:p14="http://schemas.microsoft.com/office/powerpoint/2010/main" val="537512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4689" y="9408583"/>
            <a:ext cx="17997562" cy="6720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310858"/>
            <a:ext cx="17997562" cy="940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0203" y="1115589"/>
            <a:ext cx="14851856" cy="5241925"/>
          </a:xfrm>
        </p:spPr>
        <p:txBody>
          <a:bodyPr anchor="b" anchorCtr="0">
            <a:normAutofit/>
          </a:bodyPr>
          <a:lstStyle>
            <a:lvl1pPr>
              <a:lnSpc>
                <a:spcPct val="85000"/>
              </a:lnSpc>
              <a:defRPr sz="11759"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620203" y="6545686"/>
            <a:ext cx="14851856" cy="1680104"/>
          </a:xfrm>
        </p:spPr>
        <p:txBody>
          <a:bodyPr lIns="91440" rIns="91440" anchor="t" anchorCtr="0">
            <a:normAutofit/>
          </a:bodyPr>
          <a:lstStyle>
            <a:lvl1pPr marL="0" indent="0">
              <a:buNone/>
              <a:defRPr sz="3528" cap="all" spc="294" baseline="0">
                <a:solidFill>
                  <a:schemeClr val="tx2"/>
                </a:solidFill>
                <a:latin typeface="+mj-lt"/>
              </a:defRPr>
            </a:lvl1pPr>
            <a:lvl2pPr marL="672038" indent="0">
              <a:buNone/>
              <a:defRPr sz="2646">
                <a:solidFill>
                  <a:schemeClr val="tx1">
                    <a:tint val="75000"/>
                  </a:schemeClr>
                </a:solidFill>
              </a:defRPr>
            </a:lvl2pPr>
            <a:lvl3pPr marL="1344077" indent="0">
              <a:buNone/>
              <a:defRPr sz="2352">
                <a:solidFill>
                  <a:schemeClr val="tx1">
                    <a:tint val="75000"/>
                  </a:schemeClr>
                </a:solidFill>
              </a:defRPr>
            </a:lvl3pPr>
            <a:lvl4pPr marL="2016115" indent="0">
              <a:buNone/>
              <a:defRPr sz="2058">
                <a:solidFill>
                  <a:schemeClr val="tx1">
                    <a:tint val="75000"/>
                  </a:schemeClr>
                </a:solidFill>
              </a:defRPr>
            </a:lvl4pPr>
            <a:lvl5pPr marL="2688153" indent="0">
              <a:buNone/>
              <a:defRPr sz="2058">
                <a:solidFill>
                  <a:schemeClr val="tx1">
                    <a:tint val="75000"/>
                  </a:schemeClr>
                </a:solidFill>
              </a:defRPr>
            </a:lvl5pPr>
            <a:lvl6pPr marL="3360191" indent="0">
              <a:buNone/>
              <a:defRPr sz="2058">
                <a:solidFill>
                  <a:schemeClr val="tx1">
                    <a:tint val="75000"/>
                  </a:schemeClr>
                </a:solidFill>
              </a:defRPr>
            </a:lvl6pPr>
            <a:lvl7pPr marL="4032230" indent="0">
              <a:buNone/>
              <a:defRPr sz="2058">
                <a:solidFill>
                  <a:schemeClr val="tx1">
                    <a:tint val="75000"/>
                  </a:schemeClr>
                </a:solidFill>
              </a:defRPr>
            </a:lvl7pPr>
            <a:lvl8pPr marL="4704268" indent="0">
              <a:buNone/>
              <a:defRPr sz="2058">
                <a:solidFill>
                  <a:schemeClr val="tx1">
                    <a:tint val="75000"/>
                  </a:schemeClr>
                </a:solidFill>
              </a:defRPr>
            </a:lvl8pPr>
            <a:lvl9pPr marL="5376306" indent="0">
              <a:buNone/>
              <a:defRPr sz="205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F57792-3B58-412C-8E49-374E9A2A708D}" type="datetimeFigureOut">
              <a:rPr lang="en-US" smtClean="0"/>
              <a:pPr/>
              <a:t>6/5/2025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4E426D-34AF-498B-8637-309D41EC5182}" type="slidenum">
              <a:rPr lang="en-US" smtClean="0"/>
              <a:pPr/>
              <a:t>‹#›</a:t>
            </a:fld>
            <a:endParaRPr lang="en-US"/>
          </a:p>
        </p:txBody>
      </p:sp>
      <p:cxnSp>
        <p:nvCxnSpPr>
          <p:cNvPr id="9" name="Straight Connector 8"/>
          <p:cNvCxnSpPr/>
          <p:nvPr/>
        </p:nvCxnSpPr>
        <p:spPr>
          <a:xfrm>
            <a:off x="1783182" y="6384396"/>
            <a:ext cx="14581823"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296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620203" y="421281"/>
            <a:ext cx="14851856" cy="213247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620201" y="2713058"/>
            <a:ext cx="7290911" cy="59139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181148" y="2713059"/>
            <a:ext cx="7290911" cy="59139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9F57792-3B58-412C-8E49-374E9A2A708D}" type="datetimeFigureOut">
              <a:rPr lang="en-US" smtClean="0"/>
              <a:pPr/>
              <a:t>6/5/2025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4E426D-34AF-498B-8637-309D41EC5182}" type="slidenum">
              <a:rPr lang="en-US" smtClean="0"/>
              <a:pPr/>
              <a:t>‹#›</a:t>
            </a:fld>
            <a:endParaRPr lang="en-US"/>
          </a:p>
        </p:txBody>
      </p:sp>
    </p:spTree>
    <p:extLst>
      <p:ext uri="{BB962C8B-B14F-4D97-AF65-F5344CB8AC3E}">
        <p14:creationId xmlns:p14="http://schemas.microsoft.com/office/powerpoint/2010/main" val="259282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620203" y="421281"/>
            <a:ext cx="14851856" cy="213247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620203" y="2713526"/>
            <a:ext cx="7290911" cy="1082266"/>
          </a:xfrm>
        </p:spPr>
        <p:txBody>
          <a:bodyPr lIns="91440" rIns="91440" anchor="ctr">
            <a:normAutofit/>
          </a:bodyPr>
          <a:lstStyle>
            <a:lvl1pPr marL="0" indent="0">
              <a:buNone/>
              <a:defRPr sz="2940" b="0" cap="all" baseline="0">
                <a:solidFill>
                  <a:schemeClr val="tx2"/>
                </a:solidFill>
              </a:defRPr>
            </a:lvl1pPr>
            <a:lvl2pPr marL="672038" indent="0">
              <a:buNone/>
              <a:defRPr sz="2940" b="1"/>
            </a:lvl2pPr>
            <a:lvl3pPr marL="1344077" indent="0">
              <a:buNone/>
              <a:defRPr sz="2646" b="1"/>
            </a:lvl3pPr>
            <a:lvl4pPr marL="2016115" indent="0">
              <a:buNone/>
              <a:defRPr sz="2352" b="1"/>
            </a:lvl4pPr>
            <a:lvl5pPr marL="2688153" indent="0">
              <a:buNone/>
              <a:defRPr sz="2352" b="1"/>
            </a:lvl5pPr>
            <a:lvl6pPr marL="3360191" indent="0">
              <a:buNone/>
              <a:defRPr sz="2352" b="1"/>
            </a:lvl6pPr>
            <a:lvl7pPr marL="4032230" indent="0">
              <a:buNone/>
              <a:defRPr sz="2352" b="1"/>
            </a:lvl7pPr>
            <a:lvl8pPr marL="4704268" indent="0">
              <a:buNone/>
              <a:defRPr sz="2352" b="1"/>
            </a:lvl8pPr>
            <a:lvl9pPr marL="5376306" indent="0">
              <a:buNone/>
              <a:defRPr sz="2352" b="1"/>
            </a:lvl9pPr>
          </a:lstStyle>
          <a:p>
            <a:pPr lvl="0"/>
            <a:r>
              <a:rPr lang="en-US"/>
              <a:t>Click to edit Master text styles</a:t>
            </a:r>
          </a:p>
        </p:txBody>
      </p:sp>
      <p:sp>
        <p:nvSpPr>
          <p:cNvPr id="4" name="Content Placeholder 3"/>
          <p:cNvSpPr>
            <a:spLocks noGrp="1"/>
          </p:cNvSpPr>
          <p:nvPr>
            <p:ph sz="half" idx="2"/>
          </p:nvPr>
        </p:nvSpPr>
        <p:spPr>
          <a:xfrm>
            <a:off x="1620203" y="3795792"/>
            <a:ext cx="7290911" cy="49656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181148" y="2713526"/>
            <a:ext cx="7290911" cy="1082266"/>
          </a:xfrm>
        </p:spPr>
        <p:txBody>
          <a:bodyPr lIns="91440" rIns="91440" anchor="ctr">
            <a:normAutofit/>
          </a:bodyPr>
          <a:lstStyle>
            <a:lvl1pPr marL="0" indent="0">
              <a:buNone/>
              <a:defRPr sz="2940" b="0" cap="all" baseline="0">
                <a:solidFill>
                  <a:schemeClr val="tx2"/>
                </a:solidFill>
              </a:defRPr>
            </a:lvl1pPr>
            <a:lvl2pPr marL="672038" indent="0">
              <a:buNone/>
              <a:defRPr sz="2940" b="1"/>
            </a:lvl2pPr>
            <a:lvl3pPr marL="1344077" indent="0">
              <a:buNone/>
              <a:defRPr sz="2646" b="1"/>
            </a:lvl3pPr>
            <a:lvl4pPr marL="2016115" indent="0">
              <a:buNone/>
              <a:defRPr sz="2352" b="1"/>
            </a:lvl4pPr>
            <a:lvl5pPr marL="2688153" indent="0">
              <a:buNone/>
              <a:defRPr sz="2352" b="1"/>
            </a:lvl5pPr>
            <a:lvl6pPr marL="3360191" indent="0">
              <a:buNone/>
              <a:defRPr sz="2352" b="1"/>
            </a:lvl6pPr>
            <a:lvl7pPr marL="4032230" indent="0">
              <a:buNone/>
              <a:defRPr sz="2352" b="1"/>
            </a:lvl7pPr>
            <a:lvl8pPr marL="4704268" indent="0">
              <a:buNone/>
              <a:defRPr sz="2352" b="1"/>
            </a:lvl8pPr>
            <a:lvl9pPr marL="5376306" indent="0">
              <a:buNone/>
              <a:defRPr sz="2352" b="1"/>
            </a:lvl9pPr>
          </a:lstStyle>
          <a:p>
            <a:pPr lvl="0"/>
            <a:r>
              <a:rPr lang="en-US"/>
              <a:t>Click to edit Master text styles</a:t>
            </a:r>
          </a:p>
        </p:txBody>
      </p:sp>
      <p:sp>
        <p:nvSpPr>
          <p:cNvPr id="6" name="Content Placeholder 5"/>
          <p:cNvSpPr>
            <a:spLocks noGrp="1"/>
          </p:cNvSpPr>
          <p:nvPr>
            <p:ph sz="quarter" idx="4"/>
          </p:nvPr>
        </p:nvSpPr>
        <p:spPr>
          <a:xfrm>
            <a:off x="9181148" y="3795792"/>
            <a:ext cx="7290911" cy="49656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9F57792-3B58-412C-8E49-374E9A2A708D}" type="datetimeFigureOut">
              <a:rPr lang="en-US" smtClean="0"/>
              <a:pPr/>
              <a:t>6/5/2025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24E426D-34AF-498B-8637-309D41EC5182}" type="slidenum">
              <a:rPr lang="en-US" smtClean="0"/>
              <a:pPr/>
              <a:t>‹#›</a:t>
            </a:fld>
            <a:endParaRPr lang="en-US"/>
          </a:p>
        </p:txBody>
      </p:sp>
    </p:spTree>
    <p:extLst>
      <p:ext uri="{BB962C8B-B14F-4D97-AF65-F5344CB8AC3E}">
        <p14:creationId xmlns:p14="http://schemas.microsoft.com/office/powerpoint/2010/main" val="694600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9F57792-3B58-412C-8E49-374E9A2A708D}" type="datetimeFigureOut">
              <a:rPr lang="en-US" smtClean="0"/>
              <a:pPr/>
              <a:t>6/5/2025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24E426D-34AF-498B-8637-309D41EC5182}" type="slidenum">
              <a:rPr lang="en-US" smtClean="0"/>
              <a:pPr/>
              <a:t>‹#›</a:t>
            </a:fld>
            <a:endParaRPr lang="en-US"/>
          </a:p>
        </p:txBody>
      </p:sp>
    </p:spTree>
    <p:extLst>
      <p:ext uri="{BB962C8B-B14F-4D97-AF65-F5344CB8AC3E}">
        <p14:creationId xmlns:p14="http://schemas.microsoft.com/office/powerpoint/2010/main" val="764399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4689" y="9408583"/>
            <a:ext cx="17997562" cy="6720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23" y="9310858"/>
            <a:ext cx="17997562" cy="940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9F57792-3B58-412C-8E49-374E9A2A708D}" type="datetimeFigureOut">
              <a:rPr lang="en-US" smtClean="0"/>
              <a:pPr/>
              <a:t>6/5/2025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824E426D-34AF-498B-8637-309D41EC5182}" type="slidenum">
              <a:rPr lang="en-US" smtClean="0"/>
              <a:pPr/>
              <a:t>‹#›</a:t>
            </a:fld>
            <a:endParaRPr lang="en-US"/>
          </a:p>
        </p:txBody>
      </p:sp>
    </p:spTree>
    <p:extLst>
      <p:ext uri="{BB962C8B-B14F-4D97-AF65-F5344CB8AC3E}">
        <p14:creationId xmlns:p14="http://schemas.microsoft.com/office/powerpoint/2010/main" val="1139362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24" y="0"/>
            <a:ext cx="5981246" cy="10080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5965417" y="0"/>
            <a:ext cx="94512" cy="10080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75084" y="873653"/>
            <a:ext cx="4725591" cy="3360208"/>
          </a:xfrm>
        </p:spPr>
        <p:txBody>
          <a:bodyPr anchor="b">
            <a:normAutofit/>
          </a:bodyPr>
          <a:lstStyle>
            <a:lvl1pPr>
              <a:defRPr sz="5292"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088386" y="1075267"/>
            <a:ext cx="9586198" cy="7728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5084" y="4301067"/>
            <a:ext cx="4725591" cy="4966999"/>
          </a:xfrm>
        </p:spPr>
        <p:txBody>
          <a:bodyPr lIns="91440" rIns="91440">
            <a:normAutofit/>
          </a:bodyPr>
          <a:lstStyle>
            <a:lvl1pPr marL="0" indent="0">
              <a:buNone/>
              <a:defRPr sz="2205">
                <a:solidFill>
                  <a:srgbClr val="FFFFFF"/>
                </a:solidFill>
              </a:defRPr>
            </a:lvl1pPr>
            <a:lvl2pPr marL="672038" indent="0">
              <a:buNone/>
              <a:defRPr sz="1764"/>
            </a:lvl2pPr>
            <a:lvl3pPr marL="1344077" indent="0">
              <a:buNone/>
              <a:defRPr sz="1470"/>
            </a:lvl3pPr>
            <a:lvl4pPr marL="2016115" indent="0">
              <a:buNone/>
              <a:defRPr sz="1323"/>
            </a:lvl4pPr>
            <a:lvl5pPr marL="2688153" indent="0">
              <a:buNone/>
              <a:defRPr sz="1323"/>
            </a:lvl5pPr>
            <a:lvl6pPr marL="3360191" indent="0">
              <a:buNone/>
              <a:defRPr sz="1323"/>
            </a:lvl6pPr>
            <a:lvl7pPr marL="4032230" indent="0">
              <a:buNone/>
              <a:defRPr sz="1323"/>
            </a:lvl7pPr>
            <a:lvl8pPr marL="4704268" indent="0">
              <a:buNone/>
              <a:defRPr sz="1323"/>
            </a:lvl8pPr>
            <a:lvl9pPr marL="5376306" indent="0">
              <a:buNone/>
              <a:defRPr sz="1323"/>
            </a:lvl9pPr>
          </a:lstStyle>
          <a:p>
            <a:pPr lvl="0"/>
            <a:r>
              <a:rPr lang="en-US"/>
              <a:t>Click to edit Master text styles</a:t>
            </a:r>
          </a:p>
        </p:txBody>
      </p:sp>
      <p:sp>
        <p:nvSpPr>
          <p:cNvPr id="5" name="Date Placeholder 4"/>
          <p:cNvSpPr>
            <a:spLocks noGrp="1"/>
          </p:cNvSpPr>
          <p:nvPr>
            <p:ph type="dt" sz="half" idx="10"/>
          </p:nvPr>
        </p:nvSpPr>
        <p:spPr>
          <a:xfrm>
            <a:off x="687357" y="9495287"/>
            <a:ext cx="3866394" cy="536700"/>
          </a:xfrm>
        </p:spPr>
        <p:txBody>
          <a:bodyPr/>
          <a:lstStyle>
            <a:lvl1pPr algn="l">
              <a:defRPr/>
            </a:lvl1pPr>
          </a:lstStyle>
          <a:p>
            <a:fld id="{79F57792-3B58-412C-8E49-374E9A2A708D}" type="datetimeFigureOut">
              <a:rPr lang="en-US" smtClean="0"/>
              <a:pPr/>
              <a:t>6/5/2025</a:t>
            </a:fld>
            <a:endParaRPr lang="en-US"/>
          </a:p>
        </p:txBody>
      </p:sp>
      <p:sp>
        <p:nvSpPr>
          <p:cNvPr id="6" name="Footer Placeholder 5"/>
          <p:cNvSpPr>
            <a:spLocks noGrp="1"/>
          </p:cNvSpPr>
          <p:nvPr>
            <p:ph type="ftr" sz="quarter" idx="11"/>
          </p:nvPr>
        </p:nvSpPr>
        <p:spPr>
          <a:xfrm>
            <a:off x="7088386" y="9495287"/>
            <a:ext cx="6863358" cy="536700"/>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24E426D-34AF-498B-8637-309D41EC5182}" type="slidenum">
              <a:rPr lang="en-US" smtClean="0"/>
              <a:pPr/>
              <a:t>‹#›</a:t>
            </a:fld>
            <a:endParaRPr lang="en-US"/>
          </a:p>
        </p:txBody>
      </p:sp>
    </p:spTree>
    <p:extLst>
      <p:ext uri="{BB962C8B-B14F-4D97-AF65-F5344CB8AC3E}">
        <p14:creationId xmlns:p14="http://schemas.microsoft.com/office/powerpoint/2010/main" val="796248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7280451"/>
            <a:ext cx="17997562" cy="28001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23" y="7224707"/>
            <a:ext cx="17997562" cy="940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0203" y="7459663"/>
            <a:ext cx="14932866" cy="1209675"/>
          </a:xfrm>
        </p:spPr>
        <p:txBody>
          <a:bodyPr lIns="91440" tIns="0" rIns="91440" bIns="0" anchor="b">
            <a:noAutofit/>
          </a:bodyPr>
          <a:lstStyle>
            <a:lvl1pPr>
              <a:defRPr sz="5292"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3" y="0"/>
            <a:ext cx="18002228" cy="7224707"/>
          </a:xfrm>
          <a:blipFill>
            <a:blip r:embed="rId2"/>
            <a:stretch>
              <a:fillRect/>
            </a:stretch>
          </a:blipFill>
        </p:spPr>
        <p:txBody>
          <a:bodyPr lIns="457200" tIns="457200" anchor="t"/>
          <a:lstStyle>
            <a:lvl1pPr marL="0" indent="0">
              <a:buNone/>
              <a:defRPr sz="4704">
                <a:solidFill>
                  <a:schemeClr val="bg1"/>
                </a:solidFill>
              </a:defRPr>
            </a:lvl1pPr>
            <a:lvl2pPr marL="672038" indent="0">
              <a:buNone/>
              <a:defRPr sz="4116"/>
            </a:lvl2pPr>
            <a:lvl3pPr marL="1344077" indent="0">
              <a:buNone/>
              <a:defRPr sz="3528"/>
            </a:lvl3pPr>
            <a:lvl4pPr marL="2016115" indent="0">
              <a:buNone/>
              <a:defRPr sz="2940"/>
            </a:lvl4pPr>
            <a:lvl5pPr marL="2688153" indent="0">
              <a:buNone/>
              <a:defRPr sz="2940"/>
            </a:lvl5pPr>
            <a:lvl6pPr marL="3360191" indent="0">
              <a:buNone/>
              <a:defRPr sz="2940"/>
            </a:lvl6pPr>
            <a:lvl7pPr marL="4032230" indent="0">
              <a:buNone/>
              <a:defRPr sz="2940"/>
            </a:lvl7pPr>
            <a:lvl8pPr marL="4704268" indent="0">
              <a:buNone/>
              <a:defRPr sz="2940"/>
            </a:lvl8pPr>
            <a:lvl9pPr marL="5376306" indent="0">
              <a:buNone/>
              <a:defRPr sz="2940"/>
            </a:lvl9pPr>
          </a:lstStyle>
          <a:p>
            <a:r>
              <a:rPr lang="en-US"/>
              <a:t>Click icon to add picture</a:t>
            </a:r>
            <a:endParaRPr lang="en-US" dirty="0"/>
          </a:p>
        </p:txBody>
      </p:sp>
      <p:sp>
        <p:nvSpPr>
          <p:cNvPr id="4" name="Text Placeholder 3"/>
          <p:cNvSpPr>
            <a:spLocks noGrp="1"/>
          </p:cNvSpPr>
          <p:nvPr>
            <p:ph type="body" sz="half" idx="2"/>
          </p:nvPr>
        </p:nvSpPr>
        <p:spPr>
          <a:xfrm>
            <a:off x="1620203" y="8682777"/>
            <a:ext cx="14932866" cy="873654"/>
          </a:xfrm>
        </p:spPr>
        <p:txBody>
          <a:bodyPr lIns="91440" tIns="0" rIns="91440" bIns="0">
            <a:normAutofit/>
          </a:bodyPr>
          <a:lstStyle>
            <a:lvl1pPr marL="0" indent="0">
              <a:spcBef>
                <a:spcPts val="0"/>
              </a:spcBef>
              <a:spcAft>
                <a:spcPts val="882"/>
              </a:spcAft>
              <a:buNone/>
              <a:defRPr sz="2205">
                <a:solidFill>
                  <a:srgbClr val="FFFFFF"/>
                </a:solidFill>
              </a:defRPr>
            </a:lvl1pPr>
            <a:lvl2pPr marL="672038" indent="0">
              <a:buNone/>
              <a:defRPr sz="1764"/>
            </a:lvl2pPr>
            <a:lvl3pPr marL="1344077" indent="0">
              <a:buNone/>
              <a:defRPr sz="1470"/>
            </a:lvl3pPr>
            <a:lvl4pPr marL="2016115" indent="0">
              <a:buNone/>
              <a:defRPr sz="1323"/>
            </a:lvl4pPr>
            <a:lvl5pPr marL="2688153" indent="0">
              <a:buNone/>
              <a:defRPr sz="1323"/>
            </a:lvl5pPr>
            <a:lvl6pPr marL="3360191" indent="0">
              <a:buNone/>
              <a:defRPr sz="1323"/>
            </a:lvl6pPr>
            <a:lvl7pPr marL="4032230" indent="0">
              <a:buNone/>
              <a:defRPr sz="1323"/>
            </a:lvl7pPr>
            <a:lvl8pPr marL="4704268" indent="0">
              <a:buNone/>
              <a:defRPr sz="1323"/>
            </a:lvl8pPr>
            <a:lvl9pPr marL="5376306" indent="0">
              <a:buNone/>
              <a:defRPr sz="1323"/>
            </a:lvl9pPr>
          </a:lstStyle>
          <a:p>
            <a:pPr lvl="0"/>
            <a:r>
              <a:rPr lang="en-US"/>
              <a:t>Click to edit Master text styles</a:t>
            </a:r>
          </a:p>
        </p:txBody>
      </p:sp>
      <p:sp>
        <p:nvSpPr>
          <p:cNvPr id="5" name="Date Placeholder 4"/>
          <p:cNvSpPr>
            <a:spLocks noGrp="1"/>
          </p:cNvSpPr>
          <p:nvPr>
            <p:ph type="dt" sz="half" idx="10"/>
          </p:nvPr>
        </p:nvSpPr>
        <p:spPr/>
        <p:txBody>
          <a:bodyPr/>
          <a:lstStyle/>
          <a:p>
            <a:fld id="{79F57792-3B58-412C-8E49-374E9A2A708D}" type="datetimeFigureOut">
              <a:rPr lang="en-US" smtClean="0"/>
              <a:pPr/>
              <a:t>6/5/2025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4E426D-34AF-498B-8637-309D41EC5182}" type="slidenum">
              <a:rPr lang="en-US" smtClean="0"/>
              <a:pPr/>
              <a:t>‹#›</a:t>
            </a:fld>
            <a:endParaRPr lang="en-US"/>
          </a:p>
        </p:txBody>
      </p:sp>
    </p:spTree>
    <p:extLst>
      <p:ext uri="{BB962C8B-B14F-4D97-AF65-F5344CB8AC3E}">
        <p14:creationId xmlns:p14="http://schemas.microsoft.com/office/powerpoint/2010/main" val="2108818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F57792-3B58-412C-8E49-374E9A2A708D}" type="datetimeFigureOut">
              <a:rPr lang="en-US" smtClean="0"/>
              <a:pPr/>
              <a:t>6/5/2025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4E426D-34AF-498B-8637-309D41EC5182}" type="slidenum">
              <a:rPr lang="en-US" smtClean="0"/>
              <a:pPr/>
              <a:t>‹#›</a:t>
            </a:fld>
            <a:endParaRPr lang="en-US"/>
          </a:p>
        </p:txBody>
      </p:sp>
    </p:spTree>
    <p:extLst>
      <p:ext uri="{BB962C8B-B14F-4D97-AF65-F5344CB8AC3E}">
        <p14:creationId xmlns:p14="http://schemas.microsoft.com/office/powerpoint/2010/main" val="3695168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4689" y="9408583"/>
            <a:ext cx="17997562" cy="6720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310858"/>
            <a:ext cx="17997562" cy="940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2882860" y="609686"/>
            <a:ext cx="3881735" cy="846287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37655" y="609685"/>
            <a:ext cx="11420177" cy="8462877"/>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F57792-3B58-412C-8E49-374E9A2A708D}" type="datetimeFigureOut">
              <a:rPr lang="en-US" smtClean="0"/>
              <a:pPr/>
              <a:t>6/5/2025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4E426D-34AF-498B-8637-309D41EC5182}" type="slidenum">
              <a:rPr lang="en-US" smtClean="0"/>
              <a:pPr/>
              <a:t>‹#›</a:t>
            </a:fld>
            <a:endParaRPr lang="en-US"/>
          </a:p>
        </p:txBody>
      </p:sp>
    </p:spTree>
    <p:extLst>
      <p:ext uri="{BB962C8B-B14F-4D97-AF65-F5344CB8AC3E}">
        <p14:creationId xmlns:p14="http://schemas.microsoft.com/office/powerpoint/2010/main" val="1232753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9408583"/>
            <a:ext cx="18002250" cy="6720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9310858"/>
            <a:ext cx="18002251" cy="970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620203" y="421281"/>
            <a:ext cx="14851856" cy="213247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620203" y="2713058"/>
            <a:ext cx="14851856" cy="5913967"/>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620203" y="9495287"/>
            <a:ext cx="3650463" cy="536700"/>
          </a:xfrm>
          <a:prstGeom prst="rect">
            <a:avLst/>
          </a:prstGeom>
        </p:spPr>
        <p:txBody>
          <a:bodyPr vert="horz" lIns="91440" tIns="45720" rIns="91440" bIns="45720" rtlCol="0" anchor="ctr"/>
          <a:lstStyle>
            <a:lvl1pPr algn="l">
              <a:defRPr sz="1323">
                <a:solidFill>
                  <a:srgbClr val="FFFFFF"/>
                </a:solidFill>
              </a:defRPr>
            </a:lvl1pPr>
          </a:lstStyle>
          <a:p>
            <a:fld id="{79F57792-3B58-412C-8E49-374E9A2A708D}" type="datetimeFigureOut">
              <a:rPr lang="en-US" smtClean="0"/>
              <a:pPr/>
              <a:t>6/5/2025</a:t>
            </a:fld>
            <a:endParaRPr lang="en-US"/>
          </a:p>
        </p:txBody>
      </p:sp>
      <p:sp>
        <p:nvSpPr>
          <p:cNvPr id="5" name="Footer Placeholder 4"/>
          <p:cNvSpPr>
            <a:spLocks noGrp="1"/>
          </p:cNvSpPr>
          <p:nvPr>
            <p:ph type="ftr" sz="quarter" idx="3"/>
          </p:nvPr>
        </p:nvSpPr>
        <p:spPr>
          <a:xfrm>
            <a:off x="5442882" y="9495287"/>
            <a:ext cx="7121172" cy="536700"/>
          </a:xfrm>
          <a:prstGeom prst="rect">
            <a:avLst/>
          </a:prstGeom>
        </p:spPr>
        <p:txBody>
          <a:bodyPr vert="horz" lIns="91440" tIns="45720" rIns="91440" bIns="45720" rtlCol="0" anchor="ctr"/>
          <a:lstStyle>
            <a:lvl1pPr algn="ctr">
              <a:defRPr sz="1323"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14618646" y="9495287"/>
            <a:ext cx="1937287" cy="536700"/>
          </a:xfrm>
          <a:prstGeom prst="rect">
            <a:avLst/>
          </a:prstGeom>
        </p:spPr>
        <p:txBody>
          <a:bodyPr vert="horz" lIns="91440" tIns="45720" rIns="91440" bIns="45720" rtlCol="0" anchor="ctr"/>
          <a:lstStyle>
            <a:lvl1pPr algn="r">
              <a:defRPr sz="1543">
                <a:solidFill>
                  <a:srgbClr val="FFFFFF"/>
                </a:solidFill>
              </a:defRPr>
            </a:lvl1pPr>
          </a:lstStyle>
          <a:p>
            <a:fld id="{824E426D-34AF-498B-8637-309D41EC5182}" type="slidenum">
              <a:rPr lang="en-US" smtClean="0"/>
              <a:pPr/>
              <a:t>‹#›</a:t>
            </a:fld>
            <a:endParaRPr lang="en-US"/>
          </a:p>
        </p:txBody>
      </p:sp>
      <p:cxnSp>
        <p:nvCxnSpPr>
          <p:cNvPr id="10" name="Straight Connector 9"/>
          <p:cNvCxnSpPr/>
          <p:nvPr/>
        </p:nvCxnSpPr>
        <p:spPr>
          <a:xfrm>
            <a:off x="1762325" y="2554471"/>
            <a:ext cx="14716839"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894839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1344077" rtl="0" eaLnBrk="1" latinLnBrk="0" hangingPunct="1">
        <a:lnSpc>
          <a:spcPct val="85000"/>
        </a:lnSpc>
        <a:spcBef>
          <a:spcPct val="0"/>
        </a:spcBef>
        <a:buNone/>
        <a:defRPr sz="7056" kern="1200" spc="-73" baseline="0">
          <a:solidFill>
            <a:schemeClr val="tx1">
              <a:lumMod val="75000"/>
              <a:lumOff val="25000"/>
            </a:schemeClr>
          </a:solidFill>
          <a:latin typeface="+mj-lt"/>
          <a:ea typeface="+mj-ea"/>
          <a:cs typeface="+mj-cs"/>
        </a:defRPr>
      </a:lvl1pPr>
    </p:titleStyle>
    <p:bodyStyle>
      <a:lvl1pPr marL="134408" indent="-134408" algn="l" defTabSz="1344077" rtl="0" eaLnBrk="1" latinLnBrk="0" hangingPunct="1">
        <a:lnSpc>
          <a:spcPct val="90000"/>
        </a:lnSpc>
        <a:spcBef>
          <a:spcPts val="1764"/>
        </a:spcBef>
        <a:spcAft>
          <a:spcPts val="294"/>
        </a:spcAft>
        <a:buClr>
          <a:schemeClr val="accent1"/>
        </a:buClr>
        <a:buSzPct val="100000"/>
        <a:buFont typeface="Calibri" panose="020F0502020204030204" pitchFamily="34" charset="0"/>
        <a:buChar char=" "/>
        <a:defRPr sz="2940" kern="1200">
          <a:solidFill>
            <a:schemeClr val="tx1">
              <a:lumMod val="75000"/>
              <a:lumOff val="25000"/>
            </a:schemeClr>
          </a:solidFill>
          <a:latin typeface="+mn-lt"/>
          <a:ea typeface="+mn-ea"/>
          <a:cs typeface="+mn-cs"/>
        </a:defRPr>
      </a:lvl1pPr>
      <a:lvl2pPr marL="564512" indent="-268815" algn="l" defTabSz="1344077" rtl="0" eaLnBrk="1" latinLnBrk="0" hangingPunct="1">
        <a:lnSpc>
          <a:spcPct val="90000"/>
        </a:lnSpc>
        <a:spcBef>
          <a:spcPts val="294"/>
        </a:spcBef>
        <a:spcAft>
          <a:spcPts val="588"/>
        </a:spcAft>
        <a:buClr>
          <a:schemeClr val="accent1"/>
        </a:buClr>
        <a:buFont typeface="Calibri" pitchFamily="34" charset="0"/>
        <a:buChar char="◦"/>
        <a:defRPr sz="2646" kern="1200">
          <a:solidFill>
            <a:schemeClr val="tx1">
              <a:lumMod val="75000"/>
              <a:lumOff val="25000"/>
            </a:schemeClr>
          </a:solidFill>
          <a:latin typeface="+mn-lt"/>
          <a:ea typeface="+mn-ea"/>
          <a:cs typeface="+mn-cs"/>
        </a:defRPr>
      </a:lvl2pPr>
      <a:lvl3pPr marL="833327" indent="-268815" algn="l" defTabSz="1344077" rtl="0" eaLnBrk="1" latinLnBrk="0" hangingPunct="1">
        <a:lnSpc>
          <a:spcPct val="90000"/>
        </a:lnSpc>
        <a:spcBef>
          <a:spcPts val="294"/>
        </a:spcBef>
        <a:spcAft>
          <a:spcPts val="588"/>
        </a:spcAft>
        <a:buClr>
          <a:schemeClr val="accent1"/>
        </a:buClr>
        <a:buFont typeface="Calibri" pitchFamily="34" charset="0"/>
        <a:buChar char="◦"/>
        <a:defRPr sz="2058" kern="1200">
          <a:solidFill>
            <a:schemeClr val="tx1">
              <a:lumMod val="75000"/>
              <a:lumOff val="25000"/>
            </a:schemeClr>
          </a:solidFill>
          <a:latin typeface="+mn-lt"/>
          <a:ea typeface="+mn-ea"/>
          <a:cs typeface="+mn-cs"/>
        </a:defRPr>
      </a:lvl3pPr>
      <a:lvl4pPr marL="1102143" indent="-268815" algn="l" defTabSz="1344077" rtl="0" eaLnBrk="1" latinLnBrk="0" hangingPunct="1">
        <a:lnSpc>
          <a:spcPct val="90000"/>
        </a:lnSpc>
        <a:spcBef>
          <a:spcPts val="294"/>
        </a:spcBef>
        <a:spcAft>
          <a:spcPts val="588"/>
        </a:spcAft>
        <a:buClr>
          <a:schemeClr val="accent1"/>
        </a:buClr>
        <a:buFont typeface="Calibri" pitchFamily="34" charset="0"/>
        <a:buChar char="◦"/>
        <a:defRPr sz="2058" kern="1200">
          <a:solidFill>
            <a:schemeClr val="tx1">
              <a:lumMod val="75000"/>
              <a:lumOff val="25000"/>
            </a:schemeClr>
          </a:solidFill>
          <a:latin typeface="+mn-lt"/>
          <a:ea typeface="+mn-ea"/>
          <a:cs typeface="+mn-cs"/>
        </a:defRPr>
      </a:lvl4pPr>
      <a:lvl5pPr marL="1370958" indent="-268815" algn="l" defTabSz="1344077" rtl="0" eaLnBrk="1" latinLnBrk="0" hangingPunct="1">
        <a:lnSpc>
          <a:spcPct val="90000"/>
        </a:lnSpc>
        <a:spcBef>
          <a:spcPts val="294"/>
        </a:spcBef>
        <a:spcAft>
          <a:spcPts val="588"/>
        </a:spcAft>
        <a:buClr>
          <a:schemeClr val="accent1"/>
        </a:buClr>
        <a:buFont typeface="Calibri" pitchFamily="34" charset="0"/>
        <a:buChar char="◦"/>
        <a:defRPr sz="2058" kern="1200">
          <a:solidFill>
            <a:schemeClr val="tx1">
              <a:lumMod val="75000"/>
              <a:lumOff val="25000"/>
            </a:schemeClr>
          </a:solidFill>
          <a:latin typeface="+mn-lt"/>
          <a:ea typeface="+mn-ea"/>
          <a:cs typeface="+mn-cs"/>
        </a:defRPr>
      </a:lvl5pPr>
      <a:lvl6pPr marL="1616890" indent="-336019" algn="l" defTabSz="1344077" rtl="0" eaLnBrk="1" latinLnBrk="0" hangingPunct="1">
        <a:lnSpc>
          <a:spcPct val="90000"/>
        </a:lnSpc>
        <a:spcBef>
          <a:spcPts val="294"/>
        </a:spcBef>
        <a:spcAft>
          <a:spcPts val="588"/>
        </a:spcAft>
        <a:buClr>
          <a:schemeClr val="accent1"/>
        </a:buClr>
        <a:buFont typeface="Calibri" pitchFamily="34" charset="0"/>
        <a:buChar char="◦"/>
        <a:defRPr sz="2058" kern="1200">
          <a:solidFill>
            <a:schemeClr val="tx1">
              <a:lumMod val="75000"/>
              <a:lumOff val="25000"/>
            </a:schemeClr>
          </a:solidFill>
          <a:latin typeface="+mn-lt"/>
          <a:ea typeface="+mn-ea"/>
          <a:cs typeface="+mn-cs"/>
        </a:defRPr>
      </a:lvl6pPr>
      <a:lvl7pPr marL="1910870" indent="-336019" algn="l" defTabSz="1344077" rtl="0" eaLnBrk="1" latinLnBrk="0" hangingPunct="1">
        <a:lnSpc>
          <a:spcPct val="90000"/>
        </a:lnSpc>
        <a:spcBef>
          <a:spcPts val="294"/>
        </a:spcBef>
        <a:spcAft>
          <a:spcPts val="588"/>
        </a:spcAft>
        <a:buClr>
          <a:schemeClr val="accent1"/>
        </a:buClr>
        <a:buFont typeface="Calibri" pitchFamily="34" charset="0"/>
        <a:buChar char="◦"/>
        <a:defRPr sz="2058" kern="1200">
          <a:solidFill>
            <a:schemeClr val="tx1">
              <a:lumMod val="75000"/>
              <a:lumOff val="25000"/>
            </a:schemeClr>
          </a:solidFill>
          <a:latin typeface="+mn-lt"/>
          <a:ea typeface="+mn-ea"/>
          <a:cs typeface="+mn-cs"/>
        </a:defRPr>
      </a:lvl7pPr>
      <a:lvl8pPr marL="2204850" indent="-336019" algn="l" defTabSz="1344077" rtl="0" eaLnBrk="1" latinLnBrk="0" hangingPunct="1">
        <a:lnSpc>
          <a:spcPct val="90000"/>
        </a:lnSpc>
        <a:spcBef>
          <a:spcPts val="294"/>
        </a:spcBef>
        <a:spcAft>
          <a:spcPts val="588"/>
        </a:spcAft>
        <a:buClr>
          <a:schemeClr val="accent1"/>
        </a:buClr>
        <a:buFont typeface="Calibri" pitchFamily="34" charset="0"/>
        <a:buChar char="◦"/>
        <a:defRPr sz="2058" kern="1200">
          <a:solidFill>
            <a:schemeClr val="tx1">
              <a:lumMod val="75000"/>
              <a:lumOff val="25000"/>
            </a:schemeClr>
          </a:solidFill>
          <a:latin typeface="+mn-lt"/>
          <a:ea typeface="+mn-ea"/>
          <a:cs typeface="+mn-cs"/>
        </a:defRPr>
      </a:lvl8pPr>
      <a:lvl9pPr marL="2498830" indent="-336019" algn="l" defTabSz="1344077" rtl="0" eaLnBrk="1" latinLnBrk="0" hangingPunct="1">
        <a:lnSpc>
          <a:spcPct val="90000"/>
        </a:lnSpc>
        <a:spcBef>
          <a:spcPts val="294"/>
        </a:spcBef>
        <a:spcAft>
          <a:spcPts val="588"/>
        </a:spcAft>
        <a:buClr>
          <a:schemeClr val="accent1"/>
        </a:buClr>
        <a:buFont typeface="Calibri" pitchFamily="34" charset="0"/>
        <a:buChar char="◦"/>
        <a:defRPr sz="2058" kern="1200">
          <a:solidFill>
            <a:schemeClr val="tx1">
              <a:lumMod val="75000"/>
              <a:lumOff val="25000"/>
            </a:schemeClr>
          </a:solidFill>
          <a:latin typeface="+mn-lt"/>
          <a:ea typeface="+mn-ea"/>
          <a:cs typeface="+mn-cs"/>
        </a:defRPr>
      </a:lvl9pPr>
    </p:bodyStyle>
    <p:otherStyle>
      <a:defPPr>
        <a:defRPr lang="en-US"/>
      </a:defPPr>
      <a:lvl1pPr marL="0" algn="l" defTabSz="1344077" rtl="0" eaLnBrk="1" latinLnBrk="0" hangingPunct="1">
        <a:defRPr sz="2646" kern="1200">
          <a:solidFill>
            <a:schemeClr val="tx1"/>
          </a:solidFill>
          <a:latin typeface="+mn-lt"/>
          <a:ea typeface="+mn-ea"/>
          <a:cs typeface="+mn-cs"/>
        </a:defRPr>
      </a:lvl1pPr>
      <a:lvl2pPr marL="672038" algn="l" defTabSz="1344077" rtl="0" eaLnBrk="1" latinLnBrk="0" hangingPunct="1">
        <a:defRPr sz="2646" kern="1200">
          <a:solidFill>
            <a:schemeClr val="tx1"/>
          </a:solidFill>
          <a:latin typeface="+mn-lt"/>
          <a:ea typeface="+mn-ea"/>
          <a:cs typeface="+mn-cs"/>
        </a:defRPr>
      </a:lvl2pPr>
      <a:lvl3pPr marL="1344077" algn="l" defTabSz="1344077" rtl="0" eaLnBrk="1" latinLnBrk="0" hangingPunct="1">
        <a:defRPr sz="2646" kern="1200">
          <a:solidFill>
            <a:schemeClr val="tx1"/>
          </a:solidFill>
          <a:latin typeface="+mn-lt"/>
          <a:ea typeface="+mn-ea"/>
          <a:cs typeface="+mn-cs"/>
        </a:defRPr>
      </a:lvl3pPr>
      <a:lvl4pPr marL="2016115" algn="l" defTabSz="1344077" rtl="0" eaLnBrk="1" latinLnBrk="0" hangingPunct="1">
        <a:defRPr sz="2646" kern="1200">
          <a:solidFill>
            <a:schemeClr val="tx1"/>
          </a:solidFill>
          <a:latin typeface="+mn-lt"/>
          <a:ea typeface="+mn-ea"/>
          <a:cs typeface="+mn-cs"/>
        </a:defRPr>
      </a:lvl4pPr>
      <a:lvl5pPr marL="2688153" algn="l" defTabSz="1344077" rtl="0" eaLnBrk="1" latinLnBrk="0" hangingPunct="1">
        <a:defRPr sz="2646" kern="1200">
          <a:solidFill>
            <a:schemeClr val="tx1"/>
          </a:solidFill>
          <a:latin typeface="+mn-lt"/>
          <a:ea typeface="+mn-ea"/>
          <a:cs typeface="+mn-cs"/>
        </a:defRPr>
      </a:lvl5pPr>
      <a:lvl6pPr marL="3360191" algn="l" defTabSz="1344077" rtl="0" eaLnBrk="1" latinLnBrk="0" hangingPunct="1">
        <a:defRPr sz="2646" kern="1200">
          <a:solidFill>
            <a:schemeClr val="tx1"/>
          </a:solidFill>
          <a:latin typeface="+mn-lt"/>
          <a:ea typeface="+mn-ea"/>
          <a:cs typeface="+mn-cs"/>
        </a:defRPr>
      </a:lvl6pPr>
      <a:lvl7pPr marL="4032230" algn="l" defTabSz="1344077" rtl="0" eaLnBrk="1" latinLnBrk="0" hangingPunct="1">
        <a:defRPr sz="2646" kern="1200">
          <a:solidFill>
            <a:schemeClr val="tx1"/>
          </a:solidFill>
          <a:latin typeface="+mn-lt"/>
          <a:ea typeface="+mn-ea"/>
          <a:cs typeface="+mn-cs"/>
        </a:defRPr>
      </a:lvl7pPr>
      <a:lvl8pPr marL="4704268" algn="l" defTabSz="1344077" rtl="0" eaLnBrk="1" latinLnBrk="0" hangingPunct="1">
        <a:defRPr sz="2646" kern="1200">
          <a:solidFill>
            <a:schemeClr val="tx1"/>
          </a:solidFill>
          <a:latin typeface="+mn-lt"/>
          <a:ea typeface="+mn-ea"/>
          <a:cs typeface="+mn-cs"/>
        </a:defRPr>
      </a:lvl8pPr>
      <a:lvl9pPr marL="5376306" algn="l" defTabSz="1344077" rtl="0" eaLnBrk="1" latinLnBrk="0" hangingPunct="1">
        <a:defRPr sz="264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sciencedirect.com/science/article/abs/pii/S0957417422017638"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www.sciencedirect.com/science/article/abs/pii/S0045790623000514"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6E06E3-773C-4819-4799-AACFFC15449B}"/>
              </a:ext>
            </a:extLst>
          </p:cNvPr>
          <p:cNvSpPr txBox="1"/>
          <p:nvPr/>
        </p:nvSpPr>
        <p:spPr>
          <a:xfrm>
            <a:off x="4248597" y="1717799"/>
            <a:ext cx="8998856" cy="1322285"/>
          </a:xfrm>
          <a:prstGeom prst="rect">
            <a:avLst/>
          </a:prstGeom>
          <a:noFill/>
        </p:spPr>
        <p:txBody>
          <a:bodyPr wrap="square">
            <a:spAutoFit/>
          </a:bodyPr>
          <a:lstStyle/>
          <a:p>
            <a:pPr marL="181610" marR="635" indent="-6350" algn="ctr">
              <a:lnSpc>
                <a:spcPct val="114000"/>
              </a:lnSpc>
              <a:spcAft>
                <a:spcPts val="985"/>
              </a:spcAft>
            </a:pPr>
            <a:r>
              <a:rPr lang="en-IN" sz="2400" b="1" i="1" kern="100" dirty="0">
                <a:solidFill>
                  <a:srgbClr val="FF0000"/>
                </a:solidFill>
                <a:effectLst/>
                <a:latin typeface="Times New Roman" panose="02020603050405020304" pitchFamily="18" charset="0"/>
                <a:ea typeface="Times New Roman" panose="02020603050405020304" pitchFamily="18" charset="0"/>
              </a:rPr>
              <a:t>An Industrial Oriented mini-project report submitted to JNTUH in the partial fulfilment of the requirements for the award of the degree of </a:t>
            </a:r>
            <a:endParaRPr lang="en-IN" sz="2400" kern="100" dirty="0">
              <a:solidFill>
                <a:srgbClr val="FF0000"/>
              </a:solidFill>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A1510332-7774-C11C-B9F5-68B9769B1EF8}"/>
              </a:ext>
            </a:extLst>
          </p:cNvPr>
          <p:cNvSpPr txBox="1"/>
          <p:nvPr/>
        </p:nvSpPr>
        <p:spPr>
          <a:xfrm>
            <a:off x="2808437" y="355774"/>
            <a:ext cx="12780348" cy="1323439"/>
          </a:xfrm>
          <a:prstGeom prst="rect">
            <a:avLst/>
          </a:prstGeom>
          <a:noFill/>
        </p:spPr>
        <p:txBody>
          <a:bodyPr wrap="square">
            <a:spAutoFit/>
          </a:bodyPr>
          <a:lstStyle/>
          <a:p>
            <a:r>
              <a:rPr lang="en-US" sz="4000" b="1" dirty="0">
                <a:solidFill>
                  <a:schemeClr val="bg2">
                    <a:lumMod val="50000"/>
                  </a:schemeClr>
                </a:solidFill>
                <a:latin typeface="Times New Roman" panose="02020603050405020304" pitchFamily="18" charset="0"/>
                <a:cs typeface="Times New Roman" panose="02020603050405020304" pitchFamily="18" charset="0"/>
              </a:rPr>
              <a:t>Automated Network Intrusion Detection for  Internet of                                                                                                             Things: Security Enhancements</a:t>
            </a:r>
            <a:endParaRPr lang="en-IN" sz="4000" dirty="0"/>
          </a:p>
        </p:txBody>
      </p:sp>
      <p:sp>
        <p:nvSpPr>
          <p:cNvPr id="7" name="TextBox 6">
            <a:extLst>
              <a:ext uri="{FF2B5EF4-FFF2-40B4-BE49-F238E27FC236}">
                <a16:creationId xmlns:a16="http://schemas.microsoft.com/office/drawing/2014/main" id="{2B1B7E3F-2EE1-CD56-C8D0-64772890187C}"/>
              </a:ext>
            </a:extLst>
          </p:cNvPr>
          <p:cNvSpPr txBox="1"/>
          <p:nvPr/>
        </p:nvSpPr>
        <p:spPr>
          <a:xfrm>
            <a:off x="3816549" y="3078670"/>
            <a:ext cx="8998856" cy="1565621"/>
          </a:xfrm>
          <a:prstGeom prst="rect">
            <a:avLst/>
          </a:prstGeom>
          <a:noFill/>
        </p:spPr>
        <p:txBody>
          <a:bodyPr wrap="square">
            <a:spAutoFit/>
          </a:bodyPr>
          <a:lstStyle/>
          <a:p>
            <a:pPr marL="433705" marR="635" indent="-6350" algn="ctr">
              <a:lnSpc>
                <a:spcPct val="107000"/>
              </a:lnSpc>
              <a:spcAft>
                <a:spcPts val="750"/>
              </a:spcAft>
            </a:pPr>
            <a:r>
              <a:rPr lang="en-IN" sz="1800" b="1" kern="100" dirty="0">
                <a:solidFill>
                  <a:srgbClr val="0070C0"/>
                </a:solidFill>
                <a:effectLst/>
                <a:latin typeface="Times New Roman" panose="02020603050405020304" pitchFamily="18" charset="0"/>
                <a:ea typeface="Times New Roman" panose="02020603050405020304" pitchFamily="18" charset="0"/>
              </a:rPr>
              <a:t>BACHELOR OF TECHNOLOGY </a:t>
            </a:r>
            <a:endParaRPr lang="en-IN" sz="1600" kern="100" dirty="0">
              <a:solidFill>
                <a:srgbClr val="0070C0"/>
              </a:solidFill>
              <a:effectLst/>
              <a:latin typeface="Times New Roman" panose="02020603050405020304" pitchFamily="18" charset="0"/>
              <a:ea typeface="Times New Roman" panose="02020603050405020304" pitchFamily="18" charset="0"/>
            </a:endParaRPr>
          </a:p>
          <a:p>
            <a:pPr marL="433705" marR="3175" indent="-6350" algn="ctr">
              <a:lnSpc>
                <a:spcPct val="107000"/>
              </a:lnSpc>
              <a:spcAft>
                <a:spcPts val="750"/>
              </a:spcAft>
            </a:pPr>
            <a:r>
              <a:rPr lang="en-IN" sz="1800" b="1" kern="100" dirty="0">
                <a:solidFill>
                  <a:srgbClr val="0070C0"/>
                </a:solidFill>
                <a:effectLst/>
                <a:latin typeface="Times New Roman" panose="02020603050405020304" pitchFamily="18" charset="0"/>
                <a:ea typeface="Times New Roman" panose="02020603050405020304" pitchFamily="18" charset="0"/>
              </a:rPr>
              <a:t>In </a:t>
            </a:r>
            <a:endParaRPr lang="en-IN" sz="1600" kern="100" dirty="0">
              <a:solidFill>
                <a:srgbClr val="0070C0"/>
              </a:solidFill>
              <a:effectLst/>
              <a:latin typeface="Times New Roman" panose="02020603050405020304" pitchFamily="18" charset="0"/>
              <a:ea typeface="Times New Roman" panose="02020603050405020304" pitchFamily="18" charset="0"/>
            </a:endParaRPr>
          </a:p>
          <a:p>
            <a:pPr marL="1335405" marR="635" indent="-6350" algn="l">
              <a:lnSpc>
                <a:spcPct val="107000"/>
              </a:lnSpc>
              <a:spcAft>
                <a:spcPts val="750"/>
              </a:spcAft>
            </a:pPr>
            <a:r>
              <a:rPr lang="en-IN" sz="1800" b="1" kern="100" dirty="0">
                <a:solidFill>
                  <a:srgbClr val="0070C0"/>
                </a:solidFill>
                <a:effectLst/>
                <a:latin typeface="Times New Roman" panose="02020603050405020304" pitchFamily="18" charset="0"/>
                <a:ea typeface="Times New Roman" panose="02020603050405020304" pitchFamily="18" charset="0"/>
              </a:rPr>
              <a:t>                    COMPUTER SCIENCE AND ENGINEERING </a:t>
            </a:r>
            <a:endParaRPr lang="en-IN" sz="1600" kern="100" dirty="0">
              <a:solidFill>
                <a:srgbClr val="0070C0"/>
              </a:solidFill>
              <a:effectLst/>
              <a:latin typeface="Times New Roman" panose="02020603050405020304" pitchFamily="18" charset="0"/>
              <a:ea typeface="Times New Roman" panose="02020603050405020304" pitchFamily="18" charset="0"/>
            </a:endParaRPr>
          </a:p>
          <a:p>
            <a:pPr marL="439420" marR="635" indent="-6350" algn="l">
              <a:lnSpc>
                <a:spcPct val="107000"/>
              </a:lnSpc>
              <a:spcAft>
                <a:spcPts val="25"/>
              </a:spcAft>
            </a:pPr>
            <a:r>
              <a:rPr lang="en-IN" sz="1800" b="1" kern="100" dirty="0">
                <a:solidFill>
                  <a:srgbClr val="000000"/>
                </a:solidFill>
                <a:effectLst/>
                <a:latin typeface="Times New Roman" panose="02020603050405020304" pitchFamily="18" charset="0"/>
                <a:ea typeface="Times New Roman" panose="02020603050405020304" pitchFamily="18" charset="0"/>
              </a:rPr>
              <a:t> </a:t>
            </a:r>
            <a:endParaRPr lang="en-IN" sz="1600" kern="100" dirty="0">
              <a:solidFill>
                <a:srgbClr val="000000"/>
              </a:solidFill>
              <a:effectLst/>
              <a:latin typeface="Times New Roman" panose="02020603050405020304" pitchFamily="18" charset="0"/>
              <a:ea typeface="Times New Roman" panose="02020603050405020304" pitchFamily="18" charset="0"/>
            </a:endParaRPr>
          </a:p>
        </p:txBody>
      </p:sp>
      <p:sp>
        <p:nvSpPr>
          <p:cNvPr id="9" name="TextBox 8">
            <a:extLst>
              <a:ext uri="{FF2B5EF4-FFF2-40B4-BE49-F238E27FC236}">
                <a16:creationId xmlns:a16="http://schemas.microsoft.com/office/drawing/2014/main" id="{0DBD5CA3-813C-4451-40EC-FC35FFE44F38}"/>
              </a:ext>
            </a:extLst>
          </p:cNvPr>
          <p:cNvSpPr txBox="1"/>
          <p:nvPr/>
        </p:nvSpPr>
        <p:spPr>
          <a:xfrm>
            <a:off x="3821634" y="4396380"/>
            <a:ext cx="8998856" cy="958660"/>
          </a:xfrm>
          <a:prstGeom prst="rect">
            <a:avLst/>
          </a:prstGeom>
          <a:noFill/>
        </p:spPr>
        <p:txBody>
          <a:bodyPr wrap="square">
            <a:spAutoFit/>
          </a:bodyPr>
          <a:lstStyle/>
          <a:p>
            <a:pPr marL="443865" marR="10795" indent="-6350" algn="ctr">
              <a:lnSpc>
                <a:spcPct val="107000"/>
              </a:lnSpc>
              <a:spcAft>
                <a:spcPts val="750"/>
              </a:spcAft>
            </a:pPr>
            <a:r>
              <a:rPr lang="en-IN" sz="2400" b="1" kern="100" dirty="0">
                <a:solidFill>
                  <a:srgbClr val="001F5F"/>
                </a:solidFill>
                <a:effectLst/>
                <a:latin typeface="Times New Roman" panose="02020603050405020304" pitchFamily="18" charset="0"/>
                <a:ea typeface="Times New Roman" panose="02020603050405020304" pitchFamily="18" charset="0"/>
              </a:rPr>
              <a:t>Submitted By </a:t>
            </a:r>
            <a:endParaRPr lang="en-IN" sz="2400" kern="100" dirty="0">
              <a:solidFill>
                <a:srgbClr val="000000"/>
              </a:solidFill>
              <a:effectLst/>
              <a:latin typeface="Times New Roman" panose="02020603050405020304" pitchFamily="18" charset="0"/>
              <a:ea typeface="Times New Roman" panose="02020603050405020304" pitchFamily="18" charset="0"/>
            </a:endParaRPr>
          </a:p>
          <a:p>
            <a:pPr marL="443865" marR="635" indent="-6350" algn="ctr">
              <a:lnSpc>
                <a:spcPct val="107000"/>
              </a:lnSpc>
              <a:spcAft>
                <a:spcPts val="750"/>
              </a:spcAft>
            </a:pPr>
            <a:r>
              <a:rPr lang="en-IN" sz="2400" b="1" kern="100" dirty="0">
                <a:solidFill>
                  <a:srgbClr val="001F5F"/>
                </a:solidFill>
                <a:effectLst/>
                <a:latin typeface="Times New Roman" panose="02020603050405020304" pitchFamily="18" charset="0"/>
                <a:ea typeface="Times New Roman" panose="02020603050405020304" pitchFamily="18" charset="0"/>
              </a:rPr>
              <a:t>Batch No. - 02</a:t>
            </a:r>
            <a:r>
              <a:rPr lang="en-IN" sz="2400" b="1" kern="100" dirty="0">
                <a:solidFill>
                  <a:srgbClr val="000000"/>
                </a:solidFill>
                <a:effectLst/>
                <a:latin typeface="Times New Roman" panose="02020603050405020304" pitchFamily="18" charset="0"/>
                <a:ea typeface="Times New Roman" panose="02020603050405020304" pitchFamily="18" charset="0"/>
              </a:rPr>
              <a:t> </a:t>
            </a:r>
            <a:endParaRPr lang="en-IN" sz="2400" kern="100" dirty="0">
              <a:solidFill>
                <a:srgbClr val="000000"/>
              </a:solidFill>
              <a:effectLst/>
              <a:latin typeface="Times New Roman" panose="02020603050405020304" pitchFamily="18" charset="0"/>
              <a:ea typeface="Times New Roman" panose="02020603050405020304" pitchFamily="18" charset="0"/>
            </a:endParaRPr>
          </a:p>
        </p:txBody>
      </p:sp>
      <p:sp>
        <p:nvSpPr>
          <p:cNvPr id="11" name="TextBox 10">
            <a:extLst>
              <a:ext uri="{FF2B5EF4-FFF2-40B4-BE49-F238E27FC236}">
                <a16:creationId xmlns:a16="http://schemas.microsoft.com/office/drawing/2014/main" id="{572D66DA-1434-47CF-0F05-2CE43A5D32BC}"/>
              </a:ext>
            </a:extLst>
          </p:cNvPr>
          <p:cNvSpPr txBox="1"/>
          <p:nvPr/>
        </p:nvSpPr>
        <p:spPr>
          <a:xfrm>
            <a:off x="6336829" y="5394184"/>
            <a:ext cx="8998856" cy="463397"/>
          </a:xfrm>
          <a:prstGeom prst="rect">
            <a:avLst/>
          </a:prstGeom>
          <a:noFill/>
        </p:spPr>
        <p:txBody>
          <a:bodyPr wrap="square">
            <a:spAutoFit/>
          </a:bodyPr>
          <a:lstStyle/>
          <a:p>
            <a:pPr lvl="0" algn="just">
              <a:lnSpc>
                <a:spcPct val="150000"/>
              </a:lnSpc>
              <a:spcBef>
                <a:spcPts val="120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 VAISHNAVI                   (21631A0559)</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136C9BDE-9BFD-68A7-87A4-C0175DDDF1DA}"/>
              </a:ext>
            </a:extLst>
          </p:cNvPr>
          <p:cNvSpPr txBox="1"/>
          <p:nvPr/>
        </p:nvSpPr>
        <p:spPr>
          <a:xfrm>
            <a:off x="6336829" y="5774922"/>
            <a:ext cx="8998856" cy="463397"/>
          </a:xfrm>
          <a:prstGeom prst="rect">
            <a:avLst/>
          </a:prstGeom>
          <a:noFill/>
        </p:spPr>
        <p:txBody>
          <a:bodyPr wrap="square">
            <a:spAutoFit/>
          </a:bodyPr>
          <a:lstStyle/>
          <a:p>
            <a:pPr lvl="0" algn="just">
              <a:lnSpc>
                <a:spcPct val="150000"/>
              </a:lnSpc>
              <a:spcBef>
                <a:spcPts val="120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 ABHIRAM                      (21631A0502)</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615C3212-4E3F-71AC-BAF0-0F556D7101C7}"/>
              </a:ext>
            </a:extLst>
          </p:cNvPr>
          <p:cNvSpPr txBox="1"/>
          <p:nvPr/>
        </p:nvSpPr>
        <p:spPr>
          <a:xfrm>
            <a:off x="6336829" y="6179643"/>
            <a:ext cx="8998856" cy="463397"/>
          </a:xfrm>
          <a:prstGeom prst="rect">
            <a:avLst/>
          </a:prstGeom>
          <a:noFill/>
        </p:spPr>
        <p:txBody>
          <a:bodyPr wrap="square">
            <a:spAutoFit/>
          </a:bodyPr>
          <a:lstStyle/>
          <a:p>
            <a:pPr lvl="0" algn="just">
              <a:lnSpc>
                <a:spcPct val="150000"/>
              </a:lnSpc>
              <a:spcBef>
                <a:spcPts val="120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M. SAISHASHI                   (21631A0543)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75948622-0862-CAC1-0410-4D327DDEBB01}"/>
              </a:ext>
            </a:extLst>
          </p:cNvPr>
          <p:cNvSpPr txBox="1"/>
          <p:nvPr/>
        </p:nvSpPr>
        <p:spPr>
          <a:xfrm>
            <a:off x="6336415" y="6634588"/>
            <a:ext cx="8998856" cy="463397"/>
          </a:xfrm>
          <a:prstGeom prst="rect">
            <a:avLst/>
          </a:prstGeom>
          <a:noFill/>
        </p:spPr>
        <p:txBody>
          <a:bodyPr wrap="square">
            <a:spAutoFit/>
          </a:bodyPr>
          <a:lstStyle/>
          <a:p>
            <a:pPr lvl="0" algn="just">
              <a:lnSpc>
                <a:spcPct val="150000"/>
              </a:lnSpc>
              <a:spcBef>
                <a:spcPts val="120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 SAI KUMAR                   (21631A0542)</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9" name="TextBox 18">
            <a:extLst>
              <a:ext uri="{FF2B5EF4-FFF2-40B4-BE49-F238E27FC236}">
                <a16:creationId xmlns:a16="http://schemas.microsoft.com/office/drawing/2014/main" id="{B98FB477-9572-C788-69A8-917751EB85A4}"/>
              </a:ext>
            </a:extLst>
          </p:cNvPr>
          <p:cNvSpPr txBox="1"/>
          <p:nvPr/>
        </p:nvSpPr>
        <p:spPr>
          <a:xfrm>
            <a:off x="5921847" y="7405281"/>
            <a:ext cx="8998856" cy="67710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1" u="none" strike="noStrike" cap="none" normalizeH="0" baseline="0" dirty="0">
                <a:ln>
                  <a:noFill/>
                </a:ln>
                <a:solidFill>
                  <a:srgbClr val="BE8F00"/>
                </a:solidFill>
                <a:effectLst/>
                <a:latin typeface="Arial" panose="020B0604020202020204" pitchFamily="34" charset="0"/>
                <a:ea typeface="Times New Roman" panose="02020603050405020304" pitchFamily="18" charset="0"/>
              </a:rPr>
              <a:t>Under the Esteemed guidance of </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b="1" dirty="0">
                <a:solidFill>
                  <a:srgbClr val="BE8F00"/>
                </a:solidFill>
                <a:ea typeface="Times New Roman" panose="02020603050405020304" pitchFamily="18" charset="0"/>
              </a:rPr>
              <a:t>Dr. T. Madhu </a:t>
            </a:r>
            <a:r>
              <a:rPr kumimoji="0" lang="en-US" altLang="en-US" sz="1800" b="1" i="0" u="none" strike="noStrike" cap="none" normalizeH="0" baseline="0" dirty="0">
                <a:ln>
                  <a:noFill/>
                </a:ln>
                <a:solidFill>
                  <a:srgbClr val="BE8F00"/>
                </a:solidFill>
                <a:effectLst/>
                <a:latin typeface="Arial" panose="020B0604020202020204" pitchFamily="34" charset="0"/>
                <a:ea typeface="Times New Roman" panose="02020603050405020304" pitchFamily="18" charset="0"/>
              </a:rPr>
              <a:t>, </a:t>
            </a:r>
            <a:r>
              <a:rPr kumimoji="0" lang="en-US" altLang="en-US" sz="1100" b="1" i="0" u="none" strike="noStrike" cap="none" normalizeH="0" baseline="0" dirty="0">
                <a:ln>
                  <a:noFill/>
                </a:ln>
                <a:solidFill>
                  <a:srgbClr val="BE8F00"/>
                </a:solidFill>
                <a:effectLst/>
                <a:latin typeface="Arial" panose="020B0604020202020204" pitchFamily="34" charset="0"/>
                <a:ea typeface="Times New Roman" panose="02020603050405020304" pitchFamily="18" charset="0"/>
              </a:rPr>
              <a:t>M. Tech, PhD   </a:t>
            </a:r>
            <a:r>
              <a:rPr kumimoji="0" lang="en-US" altLang="en-US" sz="1800" b="1" i="0" u="none" strike="noStrike" cap="none" normalizeH="0" baseline="0" dirty="0">
                <a:ln>
                  <a:noFill/>
                </a:ln>
                <a:solidFill>
                  <a:srgbClr val="BE8F00"/>
                </a:solidFill>
                <a:effectLst/>
                <a:latin typeface="Arial" panose="020B0604020202020204" pitchFamily="34" charset="0"/>
                <a:ea typeface="Times New Roman" panose="02020603050405020304" pitchFamily="18" charset="0"/>
              </a:rPr>
              <a:t>Associate Professor in CSE Dept.</a:t>
            </a:r>
            <a:r>
              <a:rPr kumimoji="0" lang="en-US" altLang="en-US" sz="1800"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t> </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21" name="TextBox 20">
            <a:extLst>
              <a:ext uri="{FF2B5EF4-FFF2-40B4-BE49-F238E27FC236}">
                <a16:creationId xmlns:a16="http://schemas.microsoft.com/office/drawing/2014/main" id="{2D3CB3E0-C2F9-5255-C3F6-DB38278651CC}"/>
              </a:ext>
            </a:extLst>
          </p:cNvPr>
          <p:cNvSpPr txBox="1"/>
          <p:nvPr/>
        </p:nvSpPr>
        <p:spPr>
          <a:xfrm>
            <a:off x="4392613" y="8095437"/>
            <a:ext cx="10510610" cy="525528"/>
          </a:xfrm>
          <a:prstGeom prst="rect">
            <a:avLst/>
          </a:prstGeom>
          <a:noFill/>
        </p:spPr>
        <p:txBody>
          <a:bodyPr wrap="square">
            <a:spAutoFit/>
          </a:bodyPr>
          <a:lstStyle/>
          <a:p>
            <a:pPr marL="1482090" marR="635" indent="-6350" algn="l">
              <a:lnSpc>
                <a:spcPct val="108000"/>
              </a:lnSpc>
              <a:spcAft>
                <a:spcPts val="430"/>
              </a:spcAft>
            </a:pPr>
            <a:r>
              <a:rPr lang="en-IN" sz="2800" b="1" kern="100" dirty="0">
                <a:solidFill>
                  <a:srgbClr val="000000"/>
                </a:solidFill>
                <a:effectLst/>
                <a:latin typeface="Times New Roman" panose="02020603050405020304" pitchFamily="18" charset="0"/>
                <a:ea typeface="Times New Roman" panose="02020603050405020304" pitchFamily="18" charset="0"/>
              </a:rPr>
              <a:t>SRI VENKATESWARA ENGINEERING COLLEGE </a:t>
            </a:r>
            <a:endParaRPr lang="en-IN" sz="2800" kern="100" dirty="0">
              <a:solidFill>
                <a:srgbClr val="000000"/>
              </a:solidFill>
              <a:effectLst/>
              <a:latin typeface="Times New Roman" panose="02020603050405020304" pitchFamily="18" charset="0"/>
              <a:ea typeface="Times New Roman" panose="02020603050405020304" pitchFamily="18" charset="0"/>
            </a:endParaRPr>
          </a:p>
        </p:txBody>
      </p:sp>
      <p:pic>
        <p:nvPicPr>
          <p:cNvPr id="22" name="Picture 156">
            <a:extLst>
              <a:ext uri="{FF2B5EF4-FFF2-40B4-BE49-F238E27FC236}">
                <a16:creationId xmlns:a16="http://schemas.microsoft.com/office/drawing/2014/main" id="{4EE18454-9C1F-B23A-6F3A-300702C5A1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6510" y="7094170"/>
            <a:ext cx="2081742" cy="1902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0123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383B75-CF63-1977-C62A-03BFE26FF447}"/>
              </a:ext>
            </a:extLst>
          </p:cNvPr>
          <p:cNvSpPr txBox="1"/>
          <p:nvPr/>
        </p:nvSpPr>
        <p:spPr>
          <a:xfrm>
            <a:off x="7344941" y="1799952"/>
            <a:ext cx="8998856" cy="769441"/>
          </a:xfrm>
          <a:prstGeom prst="rect">
            <a:avLst/>
          </a:prstGeom>
          <a:noFill/>
        </p:spPr>
        <p:txBody>
          <a:bodyPr wrap="square">
            <a:spAutoFit/>
          </a:bodyPr>
          <a:lstStyle/>
          <a:p>
            <a:r>
              <a:rPr lang="en-IN" sz="4400" b="1" u="sng" dirty="0">
                <a:solidFill>
                  <a:schemeClr val="accent2"/>
                </a:solidFill>
                <a:latin typeface="Times New Roman" panose="02020603050405020304" pitchFamily="18" charset="0"/>
                <a:cs typeface="Times New Roman" panose="02020603050405020304" pitchFamily="18" charset="0"/>
              </a:rPr>
              <a:t>TITLE:</a:t>
            </a:r>
            <a:endParaRPr lang="en-IN" sz="4400" b="1" u="sng" dirty="0">
              <a:solidFill>
                <a:schemeClr val="bg2"/>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C8BC498-54A5-32A3-C51C-69E159D8033C}"/>
              </a:ext>
            </a:extLst>
          </p:cNvPr>
          <p:cNvSpPr txBox="1"/>
          <p:nvPr/>
        </p:nvSpPr>
        <p:spPr>
          <a:xfrm>
            <a:off x="3744541" y="3312120"/>
            <a:ext cx="11265912" cy="1446550"/>
          </a:xfrm>
          <a:prstGeom prst="rect">
            <a:avLst/>
          </a:prstGeom>
          <a:noFill/>
        </p:spPr>
        <p:txBody>
          <a:bodyPr wrap="square">
            <a:spAutoFit/>
          </a:bodyPr>
          <a:lstStyle/>
          <a:p>
            <a:r>
              <a:rPr lang="en-US" sz="4400" b="1" dirty="0">
                <a:solidFill>
                  <a:schemeClr val="bg2">
                    <a:lumMod val="50000"/>
                  </a:schemeClr>
                </a:solidFill>
                <a:latin typeface="Times New Roman" panose="02020603050405020304" pitchFamily="18" charset="0"/>
                <a:cs typeface="Times New Roman" panose="02020603050405020304" pitchFamily="18" charset="0"/>
              </a:rPr>
              <a:t>Automated Network Intrusion Detection for Internet of Things: Security Enhancements</a:t>
            </a:r>
            <a:endParaRPr lang="en-IN" sz="4400" dirty="0"/>
          </a:p>
        </p:txBody>
      </p:sp>
    </p:spTree>
    <p:extLst>
      <p:ext uri="{BB962C8B-B14F-4D97-AF65-F5344CB8AC3E}">
        <p14:creationId xmlns:p14="http://schemas.microsoft.com/office/powerpoint/2010/main" val="1103381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8392802-D41A-E5B1-3998-AFCAC3D5885E}"/>
              </a:ext>
            </a:extLst>
          </p:cNvPr>
          <p:cNvPicPr>
            <a:picLocks noChangeAspect="1"/>
          </p:cNvPicPr>
          <p:nvPr/>
        </p:nvPicPr>
        <p:blipFill>
          <a:blip r:embed="rId2"/>
          <a:stretch>
            <a:fillRect/>
          </a:stretch>
        </p:blipFill>
        <p:spPr>
          <a:xfrm>
            <a:off x="5544741" y="215776"/>
            <a:ext cx="6346486" cy="1176630"/>
          </a:xfrm>
          <a:prstGeom prst="rect">
            <a:avLst/>
          </a:prstGeom>
        </p:spPr>
      </p:pic>
      <p:pic>
        <p:nvPicPr>
          <p:cNvPr id="6" name="Picture 5">
            <a:extLst>
              <a:ext uri="{FF2B5EF4-FFF2-40B4-BE49-F238E27FC236}">
                <a16:creationId xmlns:a16="http://schemas.microsoft.com/office/drawing/2014/main" id="{6D141BB8-E861-77CA-1840-7A7EF64199B1}"/>
              </a:ext>
            </a:extLst>
          </p:cNvPr>
          <p:cNvPicPr>
            <a:picLocks noChangeAspect="1"/>
          </p:cNvPicPr>
          <p:nvPr/>
        </p:nvPicPr>
        <p:blipFill>
          <a:blip r:embed="rId3"/>
          <a:stretch>
            <a:fillRect/>
          </a:stretch>
        </p:blipFill>
        <p:spPr>
          <a:xfrm>
            <a:off x="1152253" y="1151880"/>
            <a:ext cx="5512292" cy="8059479"/>
          </a:xfrm>
          <a:prstGeom prst="rect">
            <a:avLst/>
          </a:prstGeom>
        </p:spPr>
      </p:pic>
    </p:spTree>
    <p:extLst>
      <p:ext uri="{BB962C8B-B14F-4D97-AF65-F5344CB8AC3E}">
        <p14:creationId xmlns:p14="http://schemas.microsoft.com/office/powerpoint/2010/main" val="202792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54994" y="647824"/>
            <a:ext cx="16052006" cy="1155330"/>
          </a:xfrm>
        </p:spPr>
        <p:txBody>
          <a:bodyPr>
            <a:normAutofit/>
          </a:bodyPr>
          <a:lstStyle/>
          <a:p>
            <a:pPr algn="ctr"/>
            <a:r>
              <a:rPr lang="en-US" sz="4400" b="1" dirty="0">
                <a:solidFill>
                  <a:schemeClr val="accent2">
                    <a:lumMod val="50000"/>
                  </a:schemeClr>
                </a:solidFill>
                <a:latin typeface="Times New Roman" panose="02020603050405020304" pitchFamily="18" charset="0"/>
                <a:cs typeface="Times New Roman" panose="02020603050405020304" pitchFamily="18" charset="0"/>
              </a:rPr>
              <a:t>ABSTRACT</a:t>
            </a:r>
          </a:p>
        </p:txBody>
      </p:sp>
      <p:sp>
        <p:nvSpPr>
          <p:cNvPr id="6" name="Content Placeholder 5">
            <a:extLst>
              <a:ext uri="{FF2B5EF4-FFF2-40B4-BE49-F238E27FC236}">
                <a16:creationId xmlns:a16="http://schemas.microsoft.com/office/drawing/2014/main" id="{44045F2D-2F60-14BA-5680-993E6113D44A}"/>
              </a:ext>
            </a:extLst>
          </p:cNvPr>
          <p:cNvSpPr>
            <a:spLocks noGrp="1"/>
          </p:cNvSpPr>
          <p:nvPr>
            <p:ph idx="1"/>
          </p:nvPr>
        </p:nvSpPr>
        <p:spPr>
          <a:xfrm>
            <a:off x="1584300" y="3096096"/>
            <a:ext cx="15442827" cy="6824434"/>
          </a:xfrm>
        </p:spPr>
        <p:txBody>
          <a:bodyPr>
            <a:normAutofit/>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Increasing use of the internet and IoT devices has led to more cybersecurity threats, making intrusion detection essential to protect data.</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project introduces an automatic Network Intrusion Detection (NID) system to alert administrators of security breaches in IoT networks.</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uses the Random Forest machine learning model to improve detection accuracy and handle imbalanced data.</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system processes the UNSW-NB15 dataset, balances it with SMOTE, selects important features using PCC, and boosts performance with an ensemble Voting Classifier.</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75197" y="791840"/>
            <a:ext cx="14851856" cy="897823"/>
          </a:xfrm>
        </p:spPr>
        <p:txBody>
          <a:bodyPr>
            <a:normAutofit/>
          </a:bodyPr>
          <a:lstStyle/>
          <a:p>
            <a:pPr algn="ctr"/>
            <a:r>
              <a:rPr lang="en-US" sz="4400" b="1" dirty="0">
                <a:solidFill>
                  <a:schemeClr val="accent2">
                    <a:lumMod val="50000"/>
                  </a:schemeClr>
                </a:solidFill>
                <a:latin typeface="Times New Roman" panose="02020603050405020304" pitchFamily="18" charset="0"/>
                <a:cs typeface="Times New Roman" panose="02020603050405020304" pitchFamily="18" charset="0"/>
              </a:rPr>
              <a:t>INTRODUCTION</a:t>
            </a:r>
          </a:p>
        </p:txBody>
      </p:sp>
      <p:sp>
        <p:nvSpPr>
          <p:cNvPr id="4" name="Content Placeholder 3"/>
          <p:cNvSpPr>
            <a:spLocks noGrp="1"/>
          </p:cNvSpPr>
          <p:nvPr>
            <p:ph idx="1"/>
          </p:nvPr>
        </p:nvSpPr>
        <p:spPr>
          <a:xfrm>
            <a:off x="1620203" y="3240112"/>
            <a:ext cx="16052006" cy="6608410"/>
          </a:xfrm>
        </p:spPr>
        <p:txBody>
          <a:bodyPr>
            <a:normAutofit/>
          </a:bodyPr>
          <a:lstStyle/>
          <a:p>
            <a:pPr>
              <a:lnSpc>
                <a:spcPct val="120000"/>
              </a:lnSpc>
              <a:buClr>
                <a:srgbClr val="A9BB93"/>
              </a:buClr>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growth of IoT devices has increased connectivity, but also made network security more complex.</a:t>
            </a:r>
          </a:p>
          <a:p>
            <a:pPr>
              <a:lnSpc>
                <a:spcPct val="120000"/>
              </a:lnSpc>
              <a:buClr>
                <a:schemeClr val="accent2">
                  <a:lumMod val="50000"/>
                </a:schemeClr>
              </a:buClr>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IoT networks carry sensitive data, making them prime targets for cyberattacks and requiring strong security.</a:t>
            </a:r>
          </a:p>
          <a:p>
            <a:pPr>
              <a:lnSpc>
                <a:spcPct val="120000"/>
              </a:lnSpc>
              <a:buClr>
                <a:schemeClr val="accent2">
                  <a:lumMod val="50000"/>
                </a:schemeClr>
              </a:buClr>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Network Intrusion Detection (NID) systems help monitor IoT traffic and detect suspicious activities early.</a:t>
            </a:r>
          </a:p>
          <a:p>
            <a:pPr>
              <a:lnSpc>
                <a:spcPct val="120000"/>
              </a:lnSpc>
              <a:buClr>
                <a:schemeClr val="accent2">
                  <a:lumMod val="50000"/>
                </a:schemeClr>
              </a:buClr>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Machine learning, especially using models like Random Forest, helps NID systems identify threats more accurately.</a:t>
            </a:r>
          </a:p>
          <a:p>
            <a:pPr>
              <a:lnSpc>
                <a:spcPct val="120000"/>
              </a:lnSpc>
              <a:buClr>
                <a:schemeClr val="accent2">
                  <a:lumMod val="50000"/>
                </a:schemeClr>
              </a:buClr>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project builds a smart NID system using machine learning to better protect IoT networks from cyber threats.</a:t>
            </a:r>
          </a:p>
        </p:txBody>
      </p:sp>
    </p:spTree>
    <p:extLst>
      <p:ext uri="{BB962C8B-B14F-4D97-AF65-F5344CB8AC3E}">
        <p14:creationId xmlns:p14="http://schemas.microsoft.com/office/powerpoint/2010/main" val="1400950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75197" y="791840"/>
            <a:ext cx="14851856" cy="1113847"/>
          </a:xfrm>
        </p:spPr>
        <p:txBody>
          <a:bodyPr>
            <a:normAutofit/>
          </a:bodyPr>
          <a:lstStyle/>
          <a:p>
            <a:pPr algn="ctr"/>
            <a:r>
              <a:rPr lang="en-US" sz="4400" b="1" dirty="0">
                <a:solidFill>
                  <a:schemeClr val="accent2">
                    <a:lumMod val="50000"/>
                  </a:schemeClr>
                </a:solidFill>
                <a:latin typeface="Times New Roman" panose="02020603050405020304" pitchFamily="18" charset="0"/>
                <a:cs typeface="Times New Roman" panose="02020603050405020304" pitchFamily="18" charset="0"/>
              </a:rPr>
              <a:t>PROBLEM STATEMENT</a:t>
            </a:r>
          </a:p>
        </p:txBody>
      </p:sp>
      <p:sp>
        <p:nvSpPr>
          <p:cNvPr id="4" name="Content Placeholder 3"/>
          <p:cNvSpPr>
            <a:spLocks noGrp="1"/>
          </p:cNvSpPr>
          <p:nvPr>
            <p:ph idx="1"/>
          </p:nvPr>
        </p:nvSpPr>
        <p:spPr>
          <a:xfrm>
            <a:off x="1575197" y="3024088"/>
            <a:ext cx="15682960" cy="6730703"/>
          </a:xfrm>
        </p:spPr>
        <p:txBody>
          <a:bodyPr>
            <a:noAutofit/>
          </a:bodyPr>
          <a:lstStyle/>
          <a:p>
            <a:pPr lvl="0">
              <a:lnSpc>
                <a:spcPct val="100000"/>
              </a:lnSpc>
            </a:pPr>
            <a:r>
              <a:rPr lang="en-US" sz="2400" dirty="0">
                <a:latin typeface="Times New Roman" panose="02020603050405020304" pitchFamily="18" charset="0"/>
                <a:cs typeface="Times New Roman" panose="02020603050405020304" pitchFamily="18" charset="0"/>
              </a:rPr>
              <a:t>The fast growth of connected IoT devices brings complex security threats that traditional methods can't handle.</a:t>
            </a:r>
          </a:p>
          <a:p>
            <a:pPr lvl="0">
              <a:lnSpc>
                <a:spcPct val="100000"/>
              </a:lnSpc>
            </a:pPr>
            <a:r>
              <a:rPr lang="en-US" sz="2400" dirty="0">
                <a:latin typeface="Times New Roman" panose="02020603050405020304" pitchFamily="18" charset="0"/>
                <a:cs typeface="Times New Roman" panose="02020603050405020304" pitchFamily="18" charset="0"/>
              </a:rPr>
              <a:t>Existing intrusion detection systems often give too many false alarms and struggle with uneven data, especially in IoT networks.</a:t>
            </a:r>
          </a:p>
          <a:p>
            <a:pPr lvl="0">
              <a:lnSpc>
                <a:spcPct val="100000"/>
              </a:lnSpc>
            </a:pPr>
            <a:r>
              <a:rPr lang="en-US" sz="2400" dirty="0">
                <a:latin typeface="Times New Roman" panose="02020603050405020304" pitchFamily="18" charset="0"/>
                <a:cs typeface="Times New Roman" panose="02020603050405020304" pitchFamily="18" charset="0"/>
              </a:rPr>
              <a:t>IoT users and administrators risk data loss, privacy issues, and service disruptions due to security breaches.</a:t>
            </a:r>
          </a:p>
          <a:p>
            <a:pPr lvl="0">
              <a:lnSpc>
                <a:spcPct val="100000"/>
              </a:lnSpc>
            </a:pPr>
            <a:r>
              <a:rPr lang="en-US" sz="2400" dirty="0">
                <a:latin typeface="Times New Roman" panose="02020603050405020304" pitchFamily="18" charset="0"/>
                <a:cs typeface="Times New Roman" panose="02020603050405020304" pitchFamily="18" charset="0"/>
              </a:rPr>
              <a:t>Attacks can cause financial losses, legal problems, and damage to a company’s reputation, slowing IoT adoption.</a:t>
            </a:r>
          </a:p>
          <a:p>
            <a:pPr lvl="0">
              <a:lnSpc>
                <a:spcPct val="100000"/>
              </a:lnSpc>
            </a:pPr>
            <a:r>
              <a:rPr lang="en-US" sz="2400" dirty="0">
                <a:latin typeface="Times New Roman" panose="02020603050405020304" pitchFamily="18" charset="0"/>
                <a:cs typeface="Times New Roman" panose="02020603050405020304" pitchFamily="18" charset="0"/>
              </a:rPr>
              <a:t>To solve these problems, an automated Network Intrusion Detection system using advanced machine learning and smart feature selection is needed to improve accuracy and reduce false alerts.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472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75197" y="863848"/>
            <a:ext cx="14851856" cy="897823"/>
          </a:xfrm>
        </p:spPr>
        <p:txBody>
          <a:bodyPr>
            <a:normAutofit/>
          </a:bodyPr>
          <a:lstStyle/>
          <a:p>
            <a:pPr algn="ctr"/>
            <a:r>
              <a:rPr lang="en-US" sz="4400" b="1" dirty="0">
                <a:solidFill>
                  <a:schemeClr val="accent2">
                    <a:lumMod val="50000"/>
                  </a:schemeClr>
                </a:solidFill>
                <a:latin typeface="Times New Roman" panose="02020603050405020304" pitchFamily="18" charset="0"/>
                <a:cs typeface="Times New Roman" panose="02020603050405020304" pitchFamily="18" charset="0"/>
              </a:rPr>
              <a:t>OBJECTIVE</a:t>
            </a:r>
          </a:p>
        </p:txBody>
      </p:sp>
      <p:sp>
        <p:nvSpPr>
          <p:cNvPr id="4" name="Content Placeholder 3"/>
          <p:cNvSpPr>
            <a:spLocks noGrp="1"/>
          </p:cNvSpPr>
          <p:nvPr>
            <p:ph idx="1"/>
          </p:nvPr>
        </p:nvSpPr>
        <p:spPr>
          <a:xfrm>
            <a:off x="1800324" y="3168104"/>
            <a:ext cx="15226803" cy="6576500"/>
          </a:xfrm>
        </p:spPr>
        <p:txBody>
          <a:bodyPr>
            <a:noAutofit/>
          </a:bodyPr>
          <a:lstStyle/>
          <a:p>
            <a:pPr>
              <a:lnSpc>
                <a:spcPct val="100000"/>
              </a:lnSpc>
              <a:buClr>
                <a:schemeClr val="accent2">
                  <a:lumMod val="50000"/>
                </a:schemeClr>
              </a:buClr>
              <a:buSzPct val="100000"/>
              <a:buFont typeface="Wingdings" pitchFamily="2" charset="2"/>
              <a:buChar char="Ø"/>
            </a:pPr>
            <a:r>
              <a:rPr lang="en-US" sz="2400" dirty="0">
                <a:latin typeface="Times New Roman" panose="02020603050405020304" pitchFamily="18" charset="0"/>
                <a:cs typeface="Times New Roman" panose="02020603050405020304" pitchFamily="18" charset="0"/>
              </a:rPr>
              <a:t>The main goal is to improve IoT network security using an automated intrusion detection system powered by machine learning.</a:t>
            </a:r>
          </a:p>
          <a:p>
            <a:pPr>
              <a:lnSpc>
                <a:spcPct val="100000"/>
              </a:lnSpc>
              <a:buClr>
                <a:schemeClr val="accent2">
                  <a:lumMod val="50000"/>
                </a:schemeClr>
              </a:buClr>
              <a:buSzPct val="100000"/>
              <a:buFont typeface="Wingdings" pitchFamily="2" charset="2"/>
              <a:buChar char="Ø"/>
            </a:pPr>
            <a:r>
              <a:rPr lang="en-US" sz="2400" dirty="0">
                <a:latin typeface="Times New Roman" panose="02020603050405020304" pitchFamily="18" charset="0"/>
                <a:cs typeface="Times New Roman" panose="02020603050405020304" pitchFamily="18" charset="0"/>
              </a:rPr>
              <a:t>Random Forest is used as the main model, with a Voting Classifier added to boost accuracy and reliability.</a:t>
            </a:r>
          </a:p>
          <a:p>
            <a:pPr>
              <a:lnSpc>
                <a:spcPct val="100000"/>
              </a:lnSpc>
              <a:buClr>
                <a:schemeClr val="accent2">
                  <a:lumMod val="50000"/>
                </a:schemeClr>
              </a:buClr>
              <a:buSzPct val="100000"/>
              <a:buFont typeface="Wingdings" pitchFamily="2" charset="2"/>
              <a:buChar char="Ø"/>
            </a:pPr>
            <a:r>
              <a:rPr lang="en-US" sz="2400" dirty="0">
                <a:latin typeface="Times New Roman" panose="02020603050405020304" pitchFamily="18" charset="0"/>
                <a:cs typeface="Times New Roman" panose="02020603050405020304" pitchFamily="18" charset="0"/>
              </a:rPr>
              <a:t>The system aims to detect and classify network traffic into six types: DoS, Exploits, </a:t>
            </a:r>
            <a:r>
              <a:rPr lang="en-US" sz="2400" dirty="0" err="1">
                <a:latin typeface="Times New Roman" panose="02020603050405020304" pitchFamily="18" charset="0"/>
                <a:cs typeface="Times New Roman" panose="02020603050405020304" pitchFamily="18" charset="0"/>
              </a:rPr>
              <a:t>Fuzzers</a:t>
            </a:r>
            <a:r>
              <a:rPr lang="en-US" sz="2400" dirty="0">
                <a:latin typeface="Times New Roman" panose="02020603050405020304" pitchFamily="18" charset="0"/>
                <a:cs typeface="Times New Roman" panose="02020603050405020304" pitchFamily="18" charset="0"/>
              </a:rPr>
              <a:t>, Generic, Reconnaissance, and Normal.</a:t>
            </a:r>
          </a:p>
          <a:p>
            <a:pPr>
              <a:lnSpc>
                <a:spcPct val="100000"/>
              </a:lnSpc>
              <a:buClr>
                <a:schemeClr val="accent2">
                  <a:lumMod val="50000"/>
                </a:schemeClr>
              </a:buClr>
              <a:buSzPct val="100000"/>
              <a:buFont typeface="Wingdings" pitchFamily="2" charset="2"/>
              <a:buChar char="Ø"/>
            </a:pPr>
            <a:r>
              <a:rPr lang="en-US" sz="2400" dirty="0">
                <a:latin typeface="Times New Roman" panose="02020603050405020304" pitchFamily="18" charset="0"/>
                <a:cs typeface="Times New Roman" panose="02020603050405020304" pitchFamily="18" charset="0"/>
              </a:rPr>
              <a:t>It will be tested using accuracy, precision, recall, and F1-score to ensure it works well with few false alarms.</a:t>
            </a:r>
          </a:p>
          <a:p>
            <a:pPr>
              <a:lnSpc>
                <a:spcPct val="100000"/>
              </a:lnSpc>
              <a:buClr>
                <a:schemeClr val="accent2">
                  <a:lumMod val="50000"/>
                </a:schemeClr>
              </a:buClr>
              <a:buSzPct val="100000"/>
              <a:buFont typeface="Wingdings" pitchFamily="2" charset="2"/>
              <a:buChar char="Ø"/>
            </a:pPr>
            <a:r>
              <a:rPr lang="en-US" sz="2400" dirty="0">
                <a:latin typeface="Times New Roman" panose="02020603050405020304" pitchFamily="18" charset="0"/>
                <a:cs typeface="Times New Roman" panose="02020603050405020304" pitchFamily="18" charset="0"/>
              </a:rPr>
              <a:t>The system is designed to help security experts and IoT admins protect networks from cyberattacks.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60165" y="2434"/>
            <a:ext cx="16051213" cy="1455738"/>
          </a:xfrm>
        </p:spPr>
        <p:txBody>
          <a:bodyPr/>
          <a:lstStyle/>
          <a:p>
            <a:pPr algn="ctr"/>
            <a:r>
              <a:rPr lang="en-IN" sz="7200" b="1" dirty="0">
                <a:latin typeface="Garamond" panose="02020404030301010803" pitchFamily="18" charset="0"/>
              </a:rPr>
              <a:t>Literature Survey</a:t>
            </a:r>
            <a:endParaRPr lang="en-US" b="1" dirty="0">
              <a:solidFill>
                <a:schemeClr val="accent2">
                  <a:lumMod val="50000"/>
                </a:schemeClr>
              </a:solidFill>
              <a:latin typeface="Garamond" pitchFamily="18" charset="0"/>
            </a:endParaRPr>
          </a:p>
        </p:txBody>
      </p:sp>
      <p:graphicFrame>
        <p:nvGraphicFramePr>
          <p:cNvPr id="3" name="Content Placeholder 2"/>
          <p:cNvGraphicFramePr>
            <a:graphicFrameLocks noGrp="1"/>
          </p:cNvGraphicFramePr>
          <p:nvPr>
            <p:ph sz="quarter" idx="4294967295"/>
            <p:extLst>
              <p:ext uri="{D42A27DB-BD31-4B8C-83A1-F6EECF244321}">
                <p14:modId xmlns:p14="http://schemas.microsoft.com/office/powerpoint/2010/main" val="3459246374"/>
              </p:ext>
            </p:extLst>
          </p:nvPr>
        </p:nvGraphicFramePr>
        <p:xfrm>
          <a:off x="1224262" y="1727945"/>
          <a:ext cx="16051214" cy="7217334"/>
        </p:xfrm>
        <a:graphic>
          <a:graphicData uri="http://schemas.openxmlformats.org/drawingml/2006/table">
            <a:tbl>
              <a:tblPr firstRow="1" bandRow="1">
                <a:tableStyleId>{93296810-A885-4BE3-A3E7-6D5BEEA58F35}</a:tableStyleId>
              </a:tblPr>
              <a:tblGrid>
                <a:gridCol w="2204954">
                  <a:extLst>
                    <a:ext uri="{9D8B030D-6E8A-4147-A177-3AD203B41FA5}">
                      <a16:colId xmlns:a16="http://schemas.microsoft.com/office/drawing/2014/main" val="4187042534"/>
                    </a:ext>
                  </a:extLst>
                </a:gridCol>
                <a:gridCol w="2418334">
                  <a:extLst>
                    <a:ext uri="{9D8B030D-6E8A-4147-A177-3AD203B41FA5}">
                      <a16:colId xmlns:a16="http://schemas.microsoft.com/office/drawing/2014/main" val="1900766426"/>
                    </a:ext>
                  </a:extLst>
                </a:gridCol>
                <a:gridCol w="3129609">
                  <a:extLst>
                    <a:ext uri="{9D8B030D-6E8A-4147-A177-3AD203B41FA5}">
                      <a16:colId xmlns:a16="http://schemas.microsoft.com/office/drawing/2014/main" val="4190185857"/>
                    </a:ext>
                  </a:extLst>
                </a:gridCol>
                <a:gridCol w="3485247">
                  <a:extLst>
                    <a:ext uri="{9D8B030D-6E8A-4147-A177-3AD203B41FA5}">
                      <a16:colId xmlns:a16="http://schemas.microsoft.com/office/drawing/2014/main" val="4047692775"/>
                    </a:ext>
                  </a:extLst>
                </a:gridCol>
                <a:gridCol w="3058481">
                  <a:extLst>
                    <a:ext uri="{9D8B030D-6E8A-4147-A177-3AD203B41FA5}">
                      <a16:colId xmlns:a16="http://schemas.microsoft.com/office/drawing/2014/main" val="3959921156"/>
                    </a:ext>
                  </a:extLst>
                </a:gridCol>
                <a:gridCol w="1754589">
                  <a:extLst>
                    <a:ext uri="{9D8B030D-6E8A-4147-A177-3AD203B41FA5}">
                      <a16:colId xmlns:a16="http://schemas.microsoft.com/office/drawing/2014/main" val="4008595616"/>
                    </a:ext>
                  </a:extLst>
                </a:gridCol>
              </a:tblGrid>
              <a:tr h="593839">
                <a:tc>
                  <a:txBody>
                    <a:bodyPr/>
                    <a:lstStyle/>
                    <a:p>
                      <a:pPr algn="ctr"/>
                      <a:r>
                        <a:rPr lang="en-US" sz="3200" dirty="0">
                          <a:latin typeface="Garamond" pitchFamily="18" charset="0"/>
                        </a:rPr>
                        <a:t>Title</a:t>
                      </a:r>
                      <a:endParaRPr lang="en-IN" sz="3200" dirty="0">
                        <a:latin typeface="Garamond"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43466"/>
                    </a:solidFill>
                  </a:tcPr>
                </a:tc>
                <a:tc>
                  <a:txBody>
                    <a:bodyPr/>
                    <a:lstStyle/>
                    <a:p>
                      <a:pPr algn="ctr"/>
                      <a:r>
                        <a:rPr lang="en-US" sz="3200" dirty="0">
                          <a:latin typeface="Garamond" pitchFamily="18" charset="0"/>
                        </a:rPr>
                        <a:t>Author</a:t>
                      </a:r>
                      <a:endParaRPr lang="en-IN" sz="3200" dirty="0">
                        <a:latin typeface="Garamond"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43466"/>
                    </a:solidFill>
                  </a:tcPr>
                </a:tc>
                <a:tc>
                  <a:txBody>
                    <a:bodyPr/>
                    <a:lstStyle/>
                    <a:p>
                      <a:pPr algn="ctr"/>
                      <a:r>
                        <a:rPr lang="en-US" sz="3200" dirty="0">
                          <a:latin typeface="Garamond" pitchFamily="18" charset="0"/>
                        </a:rPr>
                        <a:t>Methodology</a:t>
                      </a:r>
                      <a:endParaRPr lang="en-IN" sz="3200" dirty="0">
                        <a:latin typeface="Garamond"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43466"/>
                    </a:solidFill>
                  </a:tcPr>
                </a:tc>
                <a:tc>
                  <a:txBody>
                    <a:bodyPr/>
                    <a:lstStyle/>
                    <a:p>
                      <a:pPr algn="ctr"/>
                      <a:r>
                        <a:rPr lang="en-US" sz="3200" dirty="0">
                          <a:latin typeface="Garamond" pitchFamily="18" charset="0"/>
                        </a:rPr>
                        <a:t>Drawbacks</a:t>
                      </a:r>
                      <a:endParaRPr lang="en-IN" sz="3200" dirty="0">
                        <a:latin typeface="Garamond"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43466"/>
                    </a:solidFill>
                  </a:tcPr>
                </a:tc>
                <a:tc>
                  <a:txBody>
                    <a:bodyPr/>
                    <a:lstStyle/>
                    <a:p>
                      <a:pPr algn="ctr"/>
                      <a:r>
                        <a:rPr lang="en-US" sz="3200" dirty="0">
                          <a:latin typeface="Garamond" pitchFamily="18" charset="0"/>
                        </a:rPr>
                        <a:t>Result</a:t>
                      </a:r>
                      <a:endParaRPr lang="en-IN" sz="3200" dirty="0">
                        <a:latin typeface="Garamond"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43466"/>
                    </a:solidFill>
                  </a:tcPr>
                </a:tc>
                <a:tc>
                  <a:txBody>
                    <a:bodyPr/>
                    <a:lstStyle/>
                    <a:p>
                      <a:pPr algn="ctr"/>
                      <a:r>
                        <a:rPr lang="en-US" sz="3200" dirty="0">
                          <a:latin typeface="Garamond" pitchFamily="18" charset="0"/>
                        </a:rPr>
                        <a:t>Link</a:t>
                      </a:r>
                      <a:endParaRPr lang="en-IN" sz="3200" dirty="0">
                        <a:latin typeface="Garamond"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43466"/>
                    </a:solidFill>
                  </a:tcPr>
                </a:tc>
                <a:extLst>
                  <a:ext uri="{0D108BD9-81ED-4DB2-BD59-A6C34878D82A}">
                    <a16:rowId xmlns:a16="http://schemas.microsoft.com/office/drawing/2014/main" val="1511318067"/>
                  </a:ext>
                </a:extLst>
              </a:tr>
              <a:tr h="6229255">
                <a:tc>
                  <a:txBody>
                    <a:bodyPr/>
                    <a:lstStyle/>
                    <a:p>
                      <a:pPr>
                        <a:lnSpc>
                          <a:spcPct val="150000"/>
                        </a:lnSpc>
                      </a:pPr>
                      <a:r>
                        <a:rPr lang="en-US" sz="2400" dirty="0">
                          <a:latin typeface="Garamond" pitchFamily="18" charset="0"/>
                        </a:rPr>
                        <a:t>An improved PIO feature selection algorithm for </a:t>
                      </a:r>
                      <a:r>
                        <a:rPr lang="en-US" sz="2400" dirty="0" err="1">
                          <a:latin typeface="Garamond" pitchFamily="18" charset="0"/>
                        </a:rPr>
                        <a:t>IoT</a:t>
                      </a:r>
                      <a:r>
                        <a:rPr lang="en-US" sz="2400" dirty="0">
                          <a:latin typeface="Garamond" pitchFamily="18" charset="0"/>
                        </a:rPr>
                        <a:t> network intrusion detection system based on ensemble learning</a:t>
                      </a:r>
                      <a:endParaRPr lang="en-IN" sz="2400" dirty="0">
                        <a:latin typeface="Garamond"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IN" sz="2400" dirty="0">
                          <a:latin typeface="Garamond" pitchFamily="18" charset="0"/>
                        </a:rPr>
                        <a:t>O. Abu </a:t>
                      </a:r>
                      <a:r>
                        <a:rPr lang="en-IN" sz="2400" dirty="0" err="1">
                          <a:latin typeface="Garamond" pitchFamily="18" charset="0"/>
                        </a:rPr>
                        <a:t>Alghanam</a:t>
                      </a:r>
                      <a:r>
                        <a:rPr lang="en-IN" sz="2400" dirty="0">
                          <a:latin typeface="Garamond" pitchFamily="18" charset="0"/>
                        </a:rPr>
                        <a:t>, W. </a:t>
                      </a:r>
                      <a:r>
                        <a:rPr lang="en-IN" sz="2400" dirty="0" err="1">
                          <a:latin typeface="Garamond" pitchFamily="18" charset="0"/>
                        </a:rPr>
                        <a:t>Almobaideen</a:t>
                      </a:r>
                      <a:r>
                        <a:rPr lang="en-IN" sz="2400" dirty="0">
                          <a:latin typeface="Garamond" pitchFamily="18" charset="0"/>
                        </a:rPr>
                        <a:t>, M. </a:t>
                      </a:r>
                      <a:r>
                        <a:rPr lang="en-IN" sz="2400" dirty="0" err="1">
                          <a:latin typeface="Garamond" pitchFamily="18" charset="0"/>
                        </a:rPr>
                        <a:t>Saadeh</a:t>
                      </a:r>
                      <a:r>
                        <a:rPr lang="en-IN" sz="2400" dirty="0">
                          <a:latin typeface="Garamond" pitchFamily="18" charset="0"/>
                        </a:rPr>
                        <a:t>, and O. </a:t>
                      </a:r>
                      <a:r>
                        <a:rPr lang="en-IN" sz="2400" dirty="0" err="1">
                          <a:latin typeface="Garamond" pitchFamily="18" charset="0"/>
                        </a:rPr>
                        <a:t>Adwan</a:t>
                      </a:r>
                      <a:endParaRPr lang="en-IN" sz="2400" dirty="0">
                        <a:latin typeface="Garamond"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dirty="0">
                          <a:latin typeface="Garamond" pitchFamily="18" charset="0"/>
                        </a:rPr>
                        <a:t>The study proposed LS-PIO, an improved pigeon-inspired optimization algorithm with local search, combined with ensemble learning using one-class classifiers, tested on four benchmark datasets for </a:t>
                      </a:r>
                      <a:r>
                        <a:rPr lang="en-US" sz="2400" dirty="0" err="1">
                          <a:latin typeface="Garamond" pitchFamily="18" charset="0"/>
                        </a:rPr>
                        <a:t>IoT</a:t>
                      </a:r>
                      <a:r>
                        <a:rPr lang="en-US" sz="2400" dirty="0">
                          <a:latin typeface="Garamond" pitchFamily="18" charset="0"/>
                        </a:rPr>
                        <a:t> network intrusion detection.</a:t>
                      </a:r>
                      <a:endParaRPr lang="en-IN" sz="2400" dirty="0">
                        <a:latin typeface="Garamond"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dirty="0">
                          <a:latin typeface="Garamond" pitchFamily="18" charset="0"/>
                        </a:rPr>
                        <a:t>The approach's complexity may increase computational overhead for real-time applications. Effectiveness depends on the quality of benchmark datasets, and generalization to new datasets or evolving attack patterns may require further tuning.</a:t>
                      </a:r>
                      <a:endParaRPr lang="en-IN" sz="2400" dirty="0">
                        <a:latin typeface="Garamond"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IN" sz="2400" dirty="0">
                          <a:latin typeface="Garamond" pitchFamily="18" charset="0"/>
                        </a:rPr>
                        <a:t>The LS-PIO and ensemble-based NIDS achieved superior performance across accuracy, F-score, AUC, TPR, and FPR metrics, outperforming state-of-the-art techniques on </a:t>
                      </a:r>
                      <a:r>
                        <a:rPr lang="en-IN" sz="2400" dirty="0" err="1">
                          <a:latin typeface="Garamond" pitchFamily="18" charset="0"/>
                        </a:rPr>
                        <a:t>BoT-IoT</a:t>
                      </a:r>
                      <a:r>
                        <a:rPr lang="en-IN" sz="2400" dirty="0">
                          <a:latin typeface="Garamond" pitchFamily="18" charset="0"/>
                        </a:rPr>
                        <a:t>, UNSW-NB15, NSL-KDD, and KDDCUP99 datasets.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IN" sz="2400" dirty="0">
                          <a:latin typeface="Garamond" pitchFamily="18" charset="0"/>
                          <a:hlinkClick r:id="rId2"/>
                        </a:rPr>
                        <a:t>https://www.sciencedirect.com/science/article/abs/pii/S0957417422017638</a:t>
                      </a:r>
                      <a:r>
                        <a:rPr lang="en-IN" sz="2400" dirty="0">
                          <a:latin typeface="Garamond" pitchFamily="18"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8334701"/>
                  </a:ext>
                </a:extLst>
              </a:tr>
            </a:tbl>
          </a:graphicData>
        </a:graphic>
      </p:graphicFrame>
    </p:spTree>
    <p:extLst>
      <p:ext uri="{BB962C8B-B14F-4D97-AF65-F5344CB8AC3E}">
        <p14:creationId xmlns:p14="http://schemas.microsoft.com/office/powerpoint/2010/main" val="3301768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36629" y="719832"/>
            <a:ext cx="11514584" cy="735906"/>
          </a:xfrm>
        </p:spPr>
        <p:txBody>
          <a:bodyPr>
            <a:normAutofit fontScale="90000"/>
          </a:bodyPr>
          <a:lstStyle/>
          <a:p>
            <a:r>
              <a:rPr lang="en-IN" sz="7200" b="1" dirty="0">
                <a:latin typeface="Garamond" panose="02020404030301010803" pitchFamily="18" charset="0"/>
              </a:rPr>
              <a:t>Literature Survey</a:t>
            </a:r>
            <a:endParaRPr lang="en-US" b="1" dirty="0">
              <a:solidFill>
                <a:schemeClr val="accent2">
                  <a:lumMod val="50000"/>
                </a:schemeClr>
              </a:solidFill>
              <a:latin typeface="Garamond" pitchFamily="18" charset="0"/>
            </a:endParaRPr>
          </a:p>
        </p:txBody>
      </p:sp>
      <p:graphicFrame>
        <p:nvGraphicFramePr>
          <p:cNvPr id="3" name="Content Placeholder 2"/>
          <p:cNvGraphicFramePr>
            <a:graphicFrameLocks noGrp="1"/>
          </p:cNvGraphicFramePr>
          <p:nvPr>
            <p:ph sz="quarter" idx="4294967295"/>
            <p:extLst>
              <p:ext uri="{D42A27DB-BD31-4B8C-83A1-F6EECF244321}">
                <p14:modId xmlns:p14="http://schemas.microsoft.com/office/powerpoint/2010/main" val="907813765"/>
              </p:ext>
            </p:extLst>
          </p:nvPr>
        </p:nvGraphicFramePr>
        <p:xfrm>
          <a:off x="504181" y="2039938"/>
          <a:ext cx="16489831" cy="6653975"/>
        </p:xfrm>
        <a:graphic>
          <a:graphicData uri="http://schemas.openxmlformats.org/drawingml/2006/table">
            <a:tbl>
              <a:tblPr firstRow="1" bandRow="1">
                <a:tableStyleId>{93296810-A885-4BE3-A3E7-6D5BEEA58F35}</a:tableStyleId>
              </a:tblPr>
              <a:tblGrid>
                <a:gridCol w="1809732">
                  <a:extLst>
                    <a:ext uri="{9D8B030D-6E8A-4147-A177-3AD203B41FA5}">
                      <a16:colId xmlns:a16="http://schemas.microsoft.com/office/drawing/2014/main" val="4187042534"/>
                    </a:ext>
                  </a:extLst>
                </a:gridCol>
                <a:gridCol w="2563969">
                  <a:extLst>
                    <a:ext uri="{9D8B030D-6E8A-4147-A177-3AD203B41FA5}">
                      <a16:colId xmlns:a16="http://schemas.microsoft.com/office/drawing/2014/main" val="1900766426"/>
                    </a:ext>
                  </a:extLst>
                </a:gridCol>
                <a:gridCol w="3318078">
                  <a:extLst>
                    <a:ext uri="{9D8B030D-6E8A-4147-A177-3AD203B41FA5}">
                      <a16:colId xmlns:a16="http://schemas.microsoft.com/office/drawing/2014/main" val="4190185857"/>
                    </a:ext>
                  </a:extLst>
                </a:gridCol>
                <a:gridCol w="3519682">
                  <a:extLst>
                    <a:ext uri="{9D8B030D-6E8A-4147-A177-3AD203B41FA5}">
                      <a16:colId xmlns:a16="http://schemas.microsoft.com/office/drawing/2014/main" val="4047692775"/>
                    </a:ext>
                  </a:extLst>
                </a:gridCol>
                <a:gridCol w="3418117">
                  <a:extLst>
                    <a:ext uri="{9D8B030D-6E8A-4147-A177-3AD203B41FA5}">
                      <a16:colId xmlns:a16="http://schemas.microsoft.com/office/drawing/2014/main" val="3959921156"/>
                    </a:ext>
                  </a:extLst>
                </a:gridCol>
                <a:gridCol w="1860253">
                  <a:extLst>
                    <a:ext uri="{9D8B030D-6E8A-4147-A177-3AD203B41FA5}">
                      <a16:colId xmlns:a16="http://schemas.microsoft.com/office/drawing/2014/main" val="4008595616"/>
                    </a:ext>
                  </a:extLst>
                </a:gridCol>
              </a:tblGrid>
              <a:tr h="370840">
                <a:tc>
                  <a:txBody>
                    <a:bodyPr/>
                    <a:lstStyle/>
                    <a:p>
                      <a:pPr algn="ctr"/>
                      <a:r>
                        <a:rPr lang="en-US" sz="3200" dirty="0">
                          <a:latin typeface="Garamond" pitchFamily="18" charset="0"/>
                        </a:rPr>
                        <a:t>Title</a:t>
                      </a:r>
                      <a:endParaRPr lang="en-IN" sz="3200" dirty="0">
                        <a:latin typeface="Garamond"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43466"/>
                    </a:solidFill>
                  </a:tcPr>
                </a:tc>
                <a:tc>
                  <a:txBody>
                    <a:bodyPr/>
                    <a:lstStyle/>
                    <a:p>
                      <a:pPr algn="ctr"/>
                      <a:r>
                        <a:rPr lang="en-US" sz="3200" dirty="0">
                          <a:latin typeface="Garamond" pitchFamily="18" charset="0"/>
                        </a:rPr>
                        <a:t>Author</a:t>
                      </a:r>
                      <a:endParaRPr lang="en-IN" sz="3200" dirty="0">
                        <a:latin typeface="Garamond"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43466"/>
                    </a:solidFill>
                  </a:tcPr>
                </a:tc>
                <a:tc>
                  <a:txBody>
                    <a:bodyPr/>
                    <a:lstStyle/>
                    <a:p>
                      <a:pPr algn="ctr"/>
                      <a:r>
                        <a:rPr lang="en-US" sz="3200" dirty="0">
                          <a:latin typeface="Garamond" pitchFamily="18" charset="0"/>
                        </a:rPr>
                        <a:t>Methodology</a:t>
                      </a:r>
                      <a:endParaRPr lang="en-IN" sz="3200" dirty="0">
                        <a:latin typeface="Garamond"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43466"/>
                    </a:solidFill>
                  </a:tcPr>
                </a:tc>
                <a:tc>
                  <a:txBody>
                    <a:bodyPr/>
                    <a:lstStyle/>
                    <a:p>
                      <a:pPr algn="ctr"/>
                      <a:r>
                        <a:rPr lang="en-US" sz="3200" dirty="0">
                          <a:latin typeface="Garamond" pitchFamily="18" charset="0"/>
                        </a:rPr>
                        <a:t>Drawbacks</a:t>
                      </a:r>
                      <a:endParaRPr lang="en-IN" sz="3200" dirty="0">
                        <a:latin typeface="Garamond"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43466"/>
                    </a:solidFill>
                  </a:tcPr>
                </a:tc>
                <a:tc>
                  <a:txBody>
                    <a:bodyPr/>
                    <a:lstStyle/>
                    <a:p>
                      <a:pPr algn="ctr"/>
                      <a:r>
                        <a:rPr lang="en-US" sz="3200" dirty="0">
                          <a:latin typeface="Garamond" pitchFamily="18" charset="0"/>
                        </a:rPr>
                        <a:t>Result</a:t>
                      </a:r>
                      <a:endParaRPr lang="en-IN" sz="3200" dirty="0">
                        <a:latin typeface="Garamond"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43466"/>
                    </a:solidFill>
                  </a:tcPr>
                </a:tc>
                <a:tc>
                  <a:txBody>
                    <a:bodyPr/>
                    <a:lstStyle/>
                    <a:p>
                      <a:pPr algn="ctr"/>
                      <a:r>
                        <a:rPr lang="en-US" sz="3200" dirty="0">
                          <a:latin typeface="Garamond" pitchFamily="18" charset="0"/>
                        </a:rPr>
                        <a:t>Link</a:t>
                      </a:r>
                      <a:endParaRPr lang="en-IN" sz="3200" dirty="0">
                        <a:latin typeface="Garamond"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43466"/>
                    </a:solidFill>
                  </a:tcPr>
                </a:tc>
                <a:extLst>
                  <a:ext uri="{0D108BD9-81ED-4DB2-BD59-A6C34878D82A}">
                    <a16:rowId xmlns:a16="http://schemas.microsoft.com/office/drawing/2014/main" val="1511318067"/>
                  </a:ext>
                </a:extLst>
              </a:tr>
              <a:tr h="370840">
                <a:tc>
                  <a:txBody>
                    <a:bodyPr/>
                    <a:lstStyle/>
                    <a:p>
                      <a:pPr>
                        <a:lnSpc>
                          <a:spcPct val="150000"/>
                        </a:lnSpc>
                      </a:pPr>
                      <a:r>
                        <a:rPr lang="en-US" sz="2400" dirty="0">
                          <a:latin typeface="Garamond" pitchFamily="18" charset="0"/>
                        </a:rPr>
                        <a:t>Anomaly based network intrusion detection for </a:t>
                      </a:r>
                      <a:r>
                        <a:rPr lang="en-US" sz="2400" dirty="0" err="1">
                          <a:latin typeface="Garamond" pitchFamily="18" charset="0"/>
                        </a:rPr>
                        <a:t>IoT</a:t>
                      </a:r>
                      <a:r>
                        <a:rPr lang="en-US" sz="2400" dirty="0">
                          <a:latin typeface="Garamond" pitchFamily="18" charset="0"/>
                        </a:rPr>
                        <a:t> attacks using deep learning technique</a:t>
                      </a:r>
                      <a:endParaRPr lang="en-IN" sz="2400" dirty="0">
                        <a:latin typeface="Garamond"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dirty="0">
                          <a:latin typeface="Garamond" pitchFamily="18" charset="0"/>
                        </a:rPr>
                        <a:t>B. Sharma, L. Sharma, C. Lal, and S. Roy</a:t>
                      </a:r>
                      <a:endParaRPr lang="en-IN" sz="2400" dirty="0">
                        <a:latin typeface="Garamond"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dirty="0">
                          <a:latin typeface="Garamond" pitchFamily="18" charset="0"/>
                        </a:rPr>
                        <a:t>The study introduced a filter-based feature selection deep neural network (DNN), applied </a:t>
                      </a:r>
                      <a:r>
                        <a:rPr lang="en-US" sz="2400" dirty="0" err="1">
                          <a:latin typeface="Garamond" pitchFamily="18" charset="0"/>
                        </a:rPr>
                        <a:t>hyperparameter</a:t>
                      </a:r>
                      <a:r>
                        <a:rPr lang="en-US" sz="2400" dirty="0">
                          <a:latin typeface="Garamond" pitchFamily="18" charset="0"/>
                        </a:rPr>
                        <a:t> tuning, and addressed class imbalance using generative adversarial networks (GANs) with the UNSW-NB15 </a:t>
                      </a:r>
                      <a:r>
                        <a:rPr lang="en-US" sz="2400" dirty="0" err="1">
                          <a:latin typeface="Garamond" pitchFamily="18" charset="0"/>
                        </a:rPr>
                        <a:t>IoT</a:t>
                      </a:r>
                      <a:r>
                        <a:rPr lang="en-US" sz="2400" dirty="0">
                          <a:latin typeface="Garamond" pitchFamily="18" charset="0"/>
                        </a:rPr>
                        <a:t> attack dataset.</a:t>
                      </a:r>
                      <a:endParaRPr lang="en-IN" sz="2400" dirty="0">
                        <a:latin typeface="Garamond"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dirty="0">
                          <a:latin typeface="Garamond" pitchFamily="18" charset="0"/>
                        </a:rPr>
                        <a:t>The model's initial accuracy of 84% indicates potential limitations in feature selection or model tuning. Dependency on GANs for synthetic data generation may affect robustness against real-world, evolving attack patterns.</a:t>
                      </a:r>
                      <a:endParaRPr lang="en-IN" sz="2400" dirty="0">
                        <a:latin typeface="Garamond"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dirty="0">
                          <a:latin typeface="Garamond" pitchFamily="18" charset="0"/>
                        </a:rPr>
                        <a:t>The proposed IDS achieved 91% accuracy with balanced datasets using GAN-generated data, demonstrating improved detection capabilities for minority classes, outperforming the imbalanced dataset results of 84% accuracy.</a:t>
                      </a:r>
                      <a:endParaRPr lang="en-IN" sz="2400" dirty="0">
                        <a:latin typeface="Garamond"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IN" sz="2400" dirty="0">
                          <a:latin typeface="Garamond" pitchFamily="18" charset="0"/>
                          <a:hlinkClick r:id="rId2"/>
                        </a:rPr>
                        <a:t>https://www.sciencedirect.com/science/article/abs/pii/S0045790623000514</a:t>
                      </a:r>
                      <a:r>
                        <a:rPr lang="en-IN" sz="2400" dirty="0">
                          <a:latin typeface="Garamond" pitchFamily="18"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8334701"/>
                  </a:ext>
                </a:extLst>
              </a:tr>
            </a:tbl>
          </a:graphicData>
        </a:graphic>
      </p:graphicFrame>
    </p:spTree>
    <p:extLst>
      <p:ext uri="{BB962C8B-B14F-4D97-AF65-F5344CB8AC3E}">
        <p14:creationId xmlns:p14="http://schemas.microsoft.com/office/powerpoint/2010/main" val="3760604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96875"/>
            <a:ext cx="16051213" cy="1455738"/>
          </a:xfrm>
        </p:spPr>
        <p:txBody>
          <a:bodyPr>
            <a:normAutofit/>
          </a:bodyPr>
          <a:lstStyle/>
          <a:p>
            <a:pPr algn="ctr"/>
            <a:r>
              <a:rPr lang="en-IN" sz="4400" b="1" dirty="0">
                <a:latin typeface="Times New Roman" panose="02020603050405020304" pitchFamily="18" charset="0"/>
                <a:cs typeface="Times New Roman" panose="02020603050405020304" pitchFamily="18" charset="0"/>
              </a:rPr>
              <a:t>Literature Review / Research Gap  </a:t>
            </a:r>
            <a:endParaRPr lang="en-US" sz="4400" b="1"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3073" name="Rectangle 1"/>
          <p:cNvSpPr>
            <a:spLocks noChangeArrowheads="1"/>
          </p:cNvSpPr>
          <p:nvPr/>
        </p:nvSpPr>
        <p:spPr bwMode="auto">
          <a:xfrm>
            <a:off x="2304381" y="3475787"/>
            <a:ext cx="14113568" cy="310854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overcome the limitations identified in the literature survey, </a:t>
            </a:r>
          </a:p>
          <a:p>
            <a:pPr marL="342900" marR="0" lvl="0" indent="-342900" algn="just" defTabSz="914400" rtl="0" eaLnBrk="1" fontAlgn="base" latinLnBrk="0" hangingPunct="1">
              <a:lnSpc>
                <a:spcPct val="100000"/>
              </a:lnSpc>
              <a:spcBef>
                <a:spcPct val="0"/>
              </a:spcBef>
              <a:spcAft>
                <a:spcPct val="0"/>
              </a:spcAft>
              <a:buClrTx/>
              <a:buSzTx/>
              <a:buFont typeface="Wingdings" panose="05000000000000000000" pitchFamily="2" charset="2"/>
              <a:buChar char="Ø"/>
              <a:tabLst/>
            </a:pPr>
            <a:r>
              <a:rPr kumimoji="0" 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uses a Random Forest-based automated NIDS to improve detection accuracy.</a:t>
            </a:r>
          </a:p>
          <a:p>
            <a:pPr marL="342900" marR="0" lvl="0" indent="-342900" algn="just" defTabSz="914400" rtl="0" eaLnBrk="1" fontAlgn="base" latinLnBrk="0" hangingPunct="1">
              <a:lnSpc>
                <a:spcPct val="100000"/>
              </a:lnSpc>
              <a:spcBef>
                <a:spcPct val="0"/>
              </a:spcBef>
              <a:spcAft>
                <a:spcPct val="0"/>
              </a:spcAft>
              <a:buClrTx/>
              <a:buSzTx/>
              <a:buFont typeface="Wingdings" panose="05000000000000000000" pitchFamily="2" charset="2"/>
              <a:buChar char="Ø"/>
              <a:tabLst/>
            </a:pPr>
            <a:r>
              <a:rPr kumimoji="0" 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SMOTE is used to fix class imbalance, making sure all attack types are fairly represented.</a:t>
            </a:r>
          </a:p>
          <a:p>
            <a:pPr marL="342900" marR="0" lvl="0" indent="-342900" algn="just" defTabSz="914400" rtl="0" eaLnBrk="1" fontAlgn="base" latinLnBrk="0" hangingPunct="1">
              <a:lnSpc>
                <a:spcPct val="100000"/>
              </a:lnSpc>
              <a:spcBef>
                <a:spcPct val="0"/>
              </a:spcBef>
              <a:spcAft>
                <a:spcPct val="0"/>
              </a:spcAft>
              <a:buClrTx/>
              <a:buSzTx/>
              <a:buFont typeface="Wingdings" panose="05000000000000000000" pitchFamily="2" charset="2"/>
              <a:buChar char="Ø"/>
              <a:tabLst/>
            </a:pPr>
            <a:r>
              <a:rPr kumimoji="0" 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selection methods help reduce complexity and make the system more efficient.</a:t>
            </a:r>
          </a:p>
          <a:p>
            <a:pPr marL="342900" marR="0" lvl="0" indent="-342900" algn="just" defTabSz="914400" rtl="0" eaLnBrk="1" fontAlgn="base" latinLnBrk="0" hangingPunct="1">
              <a:lnSpc>
                <a:spcPct val="100000"/>
              </a:lnSpc>
              <a:spcBef>
                <a:spcPct val="0"/>
              </a:spcBef>
              <a:spcAft>
                <a:spcPct val="0"/>
              </a:spcAft>
              <a:buClrTx/>
              <a:buSzTx/>
              <a:buFont typeface="Wingdings" panose="05000000000000000000" pitchFamily="2" charset="2"/>
              <a:buChar char="Ø"/>
              <a:tabLst/>
            </a:pPr>
            <a:r>
              <a:rPr kumimoji="0" 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Voting Classifier (Boosted Decision Tree + Bagging Random Forest) with soft voting improves </a:t>
            </a:r>
          </a:p>
          <a:p>
            <a:pPr marR="0" lvl="0" algn="just" defTabSz="914400" rtl="0" eaLnBrk="1" fontAlgn="base" latinLnBrk="0" hangingPunct="1">
              <a:lnSpc>
                <a:spcPct val="100000"/>
              </a:lnSpc>
              <a:spcBef>
                <a:spcPct val="0"/>
              </a:spcBef>
              <a:spcAft>
                <a:spcPct val="0"/>
              </a:spcAft>
              <a:buClrTx/>
              <a:buSzTx/>
              <a:tabLst/>
            </a:pPr>
            <a:r>
              <a:rPr kumimoji="0" 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 and avoids overfitting.</a:t>
            </a:r>
          </a:p>
          <a:p>
            <a:pPr marL="342900" marR="0" lvl="0" indent="-342900" algn="just" defTabSz="914400" rtl="0" eaLnBrk="1" fontAlgn="base" latinLnBrk="0" hangingPunct="1">
              <a:lnSpc>
                <a:spcPct val="100000"/>
              </a:lnSpc>
              <a:spcBef>
                <a:spcPct val="0"/>
              </a:spcBef>
              <a:spcAft>
                <a:spcPct val="0"/>
              </a:spcAft>
              <a:buClrTx/>
              <a:buSzTx/>
              <a:buFont typeface="Wingdings" panose="05000000000000000000" pitchFamily="2" charset="2"/>
              <a:buChar char="Ø"/>
              <a:tabLst/>
            </a:pPr>
            <a:r>
              <a:rPr kumimoji="0" 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Flask-based front-end with user login provides a secure and easy-to-use interface for testing the system.</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800" i="0" u="none" strike="noStrike" cap="none" normalizeH="0" baseline="0" dirty="0">
              <a:ln>
                <a:noFill/>
              </a:ln>
              <a:solidFill>
                <a:schemeClr val="tx1"/>
              </a:solidFill>
              <a:effectLst/>
              <a:latin typeface="Garamond" pitchFamily="18" charset="0"/>
              <a:cs typeface="Arial" charset="0"/>
            </a:endParaRPr>
          </a:p>
        </p:txBody>
      </p:sp>
      <p:cxnSp>
        <p:nvCxnSpPr>
          <p:cNvPr id="4" name="Straight Connector 3">
            <a:extLst>
              <a:ext uri="{FF2B5EF4-FFF2-40B4-BE49-F238E27FC236}">
                <a16:creationId xmlns:a16="http://schemas.microsoft.com/office/drawing/2014/main" id="{A72C290E-4ED7-6BD4-48DE-C479D23DF614}"/>
              </a:ext>
            </a:extLst>
          </p:cNvPr>
          <p:cNvCxnSpPr/>
          <p:nvPr/>
        </p:nvCxnSpPr>
        <p:spPr>
          <a:xfrm>
            <a:off x="2088357" y="2232000"/>
            <a:ext cx="1389754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7585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28317" y="935856"/>
            <a:ext cx="14851856" cy="825815"/>
          </a:xfrm>
        </p:spPr>
        <p:txBody>
          <a:bodyPr>
            <a:normAutofit/>
          </a:bodyPr>
          <a:lstStyle/>
          <a:p>
            <a:pPr algn="ctr"/>
            <a:r>
              <a:rPr lang="en-US" sz="4400" b="1" dirty="0">
                <a:solidFill>
                  <a:schemeClr val="accent2">
                    <a:lumMod val="50000"/>
                  </a:schemeClr>
                </a:solidFill>
                <a:latin typeface="Times New Roman" panose="02020603050405020304" pitchFamily="18" charset="0"/>
                <a:cs typeface="Times New Roman" panose="02020603050405020304" pitchFamily="18" charset="0"/>
              </a:rPr>
              <a:t>EXISTING SYSTEM</a:t>
            </a:r>
          </a:p>
        </p:txBody>
      </p:sp>
      <p:sp>
        <p:nvSpPr>
          <p:cNvPr id="4" name="Content Placeholder 3"/>
          <p:cNvSpPr>
            <a:spLocks noGrp="1"/>
          </p:cNvSpPr>
          <p:nvPr>
            <p:ph idx="1"/>
          </p:nvPr>
        </p:nvSpPr>
        <p:spPr>
          <a:xfrm>
            <a:off x="1696461" y="2736056"/>
            <a:ext cx="14851856" cy="5913967"/>
          </a:xfrm>
        </p:spPr>
        <p:txBody>
          <a:bodyPr>
            <a:noAutofit/>
          </a:bodyPr>
          <a:lstStyle/>
          <a:p>
            <a:pPr>
              <a:lnSpc>
                <a:spcPct val="100000"/>
              </a:lnSpc>
              <a:buNone/>
            </a:pPr>
            <a:r>
              <a:rPr lang="en-US" sz="2400" dirty="0">
                <a:latin typeface="Times New Roman" panose="02020603050405020304" pitchFamily="18" charset="0"/>
                <a:cs typeface="Times New Roman" panose="02020603050405020304" pitchFamily="18" charset="0"/>
              </a:rPr>
              <a:t>                               Existing Network Intrusion Detection Systems (NIDS) for IoT mainly use signature-based or anomaly-based methods. Signature-based systems detect known attacks by matching traffic with predefined patterns but can't identify new threats. Anomaly-based systems look for unusual behavior to catch unknown attacks, but they often produce many false alarms. These systems also have difficulty detecting rare types of attacks due to imbalanced data and usually need high computational power, making them unsuitable for real-time use in IoT devices.</a:t>
            </a:r>
          </a:p>
          <a:p>
            <a:pPr>
              <a:lnSpc>
                <a:spcPct val="100000"/>
              </a:lnSpc>
              <a:buNone/>
            </a:pP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Disadvantages of the Existing System</a:t>
            </a:r>
            <a:r>
              <a:rPr lang="en-US" sz="2400" dirty="0">
                <a:latin typeface="Times New Roman" panose="02020603050405020304" pitchFamily="18" charset="0"/>
                <a:cs typeface="Times New Roman" panose="02020603050405020304" pitchFamily="18" charset="0"/>
              </a:rPr>
              <a:t> :</a:t>
            </a:r>
          </a:p>
          <a:p>
            <a:pPr>
              <a:lnSpc>
                <a:spcPct val="100000"/>
              </a:lnSpc>
              <a:buNone/>
            </a:pPr>
            <a:r>
              <a:rPr lang="en-US" sz="2400" dirty="0">
                <a:latin typeface="Times New Roman" panose="02020603050405020304" pitchFamily="18" charset="0"/>
                <a:cs typeface="Times New Roman" panose="02020603050405020304" pitchFamily="18" charset="0"/>
              </a:rPr>
              <a:t>*Signature-based IDS** can't detect new or unknown attacks.</a:t>
            </a:r>
          </a:p>
          <a:p>
            <a:pPr>
              <a:lnSpc>
                <a:spcPct val="100000"/>
              </a:lnSpc>
              <a:buNone/>
            </a:pPr>
            <a:r>
              <a:rPr lang="en-US" sz="2400" dirty="0">
                <a:latin typeface="Times New Roman" panose="02020603050405020304" pitchFamily="18" charset="0"/>
                <a:cs typeface="Times New Roman" panose="02020603050405020304" pitchFamily="18" charset="0"/>
              </a:rPr>
              <a:t>* Anomaly-based IDS** often gives false alarms by mistaking normal activity as threats.</a:t>
            </a:r>
          </a:p>
          <a:p>
            <a:pPr>
              <a:lnSpc>
                <a:spcPct val="100000"/>
              </a:lnSpc>
              <a:buNone/>
            </a:pPr>
            <a:r>
              <a:rPr lang="en-US" sz="2400" dirty="0">
                <a:latin typeface="Times New Roman" panose="02020603050405020304" pitchFamily="18" charset="0"/>
                <a:cs typeface="Times New Roman" panose="02020603050405020304" pitchFamily="18" charset="0"/>
              </a:rPr>
              <a:t>* They miss rare types of attacks because the data is not balanced.</a:t>
            </a:r>
          </a:p>
          <a:p>
            <a:pPr>
              <a:lnSpc>
                <a:spcPct val="100000"/>
              </a:lnSpc>
              <a:buNone/>
            </a:pPr>
            <a:r>
              <a:rPr lang="en-US" sz="2400" dirty="0">
                <a:latin typeface="Times New Roman" panose="02020603050405020304" pitchFamily="18" charset="0"/>
                <a:cs typeface="Times New Roman" panose="02020603050405020304" pitchFamily="18" charset="0"/>
              </a:rPr>
              <a:t>* They need a lot of computing power, so they don’t work well on simple IoT devices.</a:t>
            </a:r>
          </a:p>
          <a:p>
            <a:pPr>
              <a:lnSpc>
                <a:spcPct val="100000"/>
              </a:lnSpc>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817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20203" y="1453599"/>
            <a:ext cx="14851856" cy="346353"/>
          </a:xfrm>
        </p:spPr>
        <p:txBody>
          <a:bodyPr>
            <a:noAutofit/>
          </a:bodyPr>
          <a:lstStyle/>
          <a:p>
            <a:pPr algn="ctr"/>
            <a:r>
              <a:rPr lang="en-US" sz="4400" b="1" dirty="0">
                <a:solidFill>
                  <a:schemeClr val="accent2">
                    <a:lumMod val="50000"/>
                  </a:schemeClr>
                </a:solidFill>
                <a:latin typeface="Times New Roman" panose="02020603050405020304" pitchFamily="18" charset="0"/>
                <a:cs typeface="Times New Roman" panose="02020603050405020304" pitchFamily="18" charset="0"/>
              </a:rPr>
              <a:t>DISADVANTAGES OF EXISTING SYSTEM</a:t>
            </a:r>
          </a:p>
        </p:txBody>
      </p:sp>
      <p:sp>
        <p:nvSpPr>
          <p:cNvPr id="4" name="Content Placeholder 3"/>
          <p:cNvSpPr>
            <a:spLocks noGrp="1"/>
          </p:cNvSpPr>
          <p:nvPr>
            <p:ph idx="1"/>
          </p:nvPr>
        </p:nvSpPr>
        <p:spPr>
          <a:xfrm>
            <a:off x="2664421" y="3096096"/>
            <a:ext cx="13807638" cy="5985975"/>
          </a:xfrm>
        </p:spPr>
        <p:txBody>
          <a:bodyPr>
            <a:normAutofit/>
          </a:bodyPr>
          <a:lstStyle/>
          <a:p>
            <a:pPr marL="0" lvl="0" indent="0">
              <a:lnSpc>
                <a:spcPct val="120000"/>
              </a:lnSpc>
              <a:buNone/>
            </a:pPr>
            <a:endParaRPr lang="en-US" dirty="0">
              <a:latin typeface="Garamond" pitchFamily="18" charset="0"/>
            </a:endParaRPr>
          </a:p>
          <a:p>
            <a:pPr lvl="0">
              <a:lnSpc>
                <a:spcPct val="12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Current systems use limited types of AI models and don’t combine them for better results.</a:t>
            </a:r>
          </a:p>
          <a:p>
            <a:pPr lvl="0">
              <a:lnSpc>
                <a:spcPct val="12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Using one model at a time makes it harder to catch new or changing attacks.</a:t>
            </a:r>
          </a:p>
          <a:p>
            <a:pPr lvl="0">
              <a:lnSpc>
                <a:spcPct val="12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They don’t handle uneven data well, which causes mistakes during real-time detection.</a:t>
            </a:r>
          </a:p>
          <a:p>
            <a:pPr lvl="0">
              <a:lnSpc>
                <a:spcPct val="12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They don’t choose the most useful data, which reduces accuracy in finding threats.</a:t>
            </a:r>
          </a:p>
          <a:p>
            <a:pPr lvl="0">
              <a:lnSpc>
                <a:spcPct val="120000"/>
              </a:lnSpc>
            </a:pPr>
            <a:endParaRPr lang="en-IN" dirty="0">
              <a:latin typeface="Garamond" pitchFamily="18" charset="0"/>
            </a:endParaRPr>
          </a:p>
        </p:txBody>
      </p:sp>
    </p:spTree>
    <p:extLst>
      <p:ext uri="{BB962C8B-B14F-4D97-AF65-F5344CB8AC3E}">
        <p14:creationId xmlns:p14="http://schemas.microsoft.com/office/powerpoint/2010/main" val="3444757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75197" y="798310"/>
            <a:ext cx="14851856" cy="1113847"/>
          </a:xfrm>
        </p:spPr>
        <p:txBody>
          <a:bodyPr>
            <a:normAutofit/>
          </a:bodyPr>
          <a:lstStyle/>
          <a:p>
            <a:pPr algn="ctr"/>
            <a:r>
              <a:rPr lang="en-US" sz="4400" b="1" dirty="0">
                <a:solidFill>
                  <a:schemeClr val="accent2">
                    <a:lumMod val="50000"/>
                  </a:schemeClr>
                </a:solidFill>
                <a:latin typeface="Times New Roman" panose="02020603050405020304" pitchFamily="18" charset="0"/>
                <a:cs typeface="Times New Roman" panose="02020603050405020304" pitchFamily="18" charset="0"/>
              </a:rPr>
              <a:t>PROPOSED SYSTEM</a:t>
            </a:r>
          </a:p>
        </p:txBody>
      </p:sp>
      <p:sp>
        <p:nvSpPr>
          <p:cNvPr id="4" name="Content Placeholder 3"/>
          <p:cNvSpPr>
            <a:spLocks noGrp="1"/>
          </p:cNvSpPr>
          <p:nvPr>
            <p:ph idx="1"/>
          </p:nvPr>
        </p:nvSpPr>
        <p:spPr>
          <a:xfrm>
            <a:off x="2016349" y="2808064"/>
            <a:ext cx="15057084" cy="5360404"/>
          </a:xfrm>
        </p:spPr>
        <p:txBody>
          <a:bodyPr>
            <a:normAutofit/>
          </a:bodyPr>
          <a:lstStyle/>
          <a:p>
            <a:pPr>
              <a:lnSpc>
                <a:spcPct val="100000"/>
              </a:lnSpc>
              <a:buNone/>
            </a:pPr>
            <a:r>
              <a:rPr lang="en-US" sz="3200" dirty="0">
                <a:latin typeface="Garamond" pitchFamily="18" charset="0"/>
              </a:rPr>
              <a:t>     </a:t>
            </a:r>
          </a:p>
          <a:p>
            <a:pPr>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proposed system is an automated intrusion detection system using Random Forest (RF) machine learning to improve accuracy in IoT networks. </a:t>
            </a:r>
          </a:p>
          <a:p>
            <a:pPr>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It uses SMOTE to fix unbalanced data, making sure all types of attacks are detected better. </a:t>
            </a:r>
          </a:p>
          <a:p>
            <a:pPr>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To make the system faster and more efficient, it selects only the important features using different feature selection methods like Filter, Wrapper, Embedded techniques, and Pearson’s Correlation. </a:t>
            </a:r>
          </a:p>
          <a:p>
            <a:pPr>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system is tested on the UNSW-NB15 dataset and shows better accuracy with fewer false alarms. </a:t>
            </a:r>
          </a:p>
          <a:p>
            <a:pPr>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Overall, it provides a stronger and smarter way to protect IoT devices from cyber threats.</a:t>
            </a:r>
          </a:p>
          <a:p>
            <a:pPr>
              <a:lnSpc>
                <a:spcPct val="100000"/>
              </a:lnSpc>
              <a:buNone/>
            </a:pPr>
            <a:endParaRPr lang="en-US" sz="3200" dirty="0">
              <a:latin typeface="Garamond" pitchFamily="18" charset="0"/>
            </a:endParaRPr>
          </a:p>
        </p:txBody>
      </p:sp>
    </p:spTree>
    <p:extLst>
      <p:ext uri="{BB962C8B-B14F-4D97-AF65-F5344CB8AC3E}">
        <p14:creationId xmlns:p14="http://schemas.microsoft.com/office/powerpoint/2010/main" val="2242319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20203" y="1112700"/>
            <a:ext cx="14851856" cy="681799"/>
          </a:xfrm>
        </p:spPr>
        <p:txBody>
          <a:bodyPr>
            <a:normAutofit/>
          </a:bodyPr>
          <a:lstStyle/>
          <a:p>
            <a:pPr algn="ctr"/>
            <a:r>
              <a:rPr lang="en-US" sz="4400" b="1" dirty="0">
                <a:solidFill>
                  <a:schemeClr val="accent2">
                    <a:lumMod val="50000"/>
                  </a:schemeClr>
                </a:solidFill>
                <a:latin typeface="Times New Roman" panose="02020603050405020304" pitchFamily="18" charset="0"/>
                <a:cs typeface="Times New Roman" panose="02020603050405020304" pitchFamily="18" charset="0"/>
              </a:rPr>
              <a:t>ADVANTAGES OF PROPOSED SYSTEM</a:t>
            </a:r>
          </a:p>
        </p:txBody>
      </p:sp>
      <p:sp>
        <p:nvSpPr>
          <p:cNvPr id="4" name="Content Placeholder 3"/>
          <p:cNvSpPr>
            <a:spLocks noGrp="1"/>
          </p:cNvSpPr>
          <p:nvPr>
            <p:ph idx="1"/>
          </p:nvPr>
        </p:nvSpPr>
        <p:spPr>
          <a:xfrm>
            <a:off x="2088357" y="2952080"/>
            <a:ext cx="14383702" cy="5674945"/>
          </a:xfrm>
        </p:spPr>
        <p:txBody>
          <a:bodyPr>
            <a:noAutofit/>
          </a:bodyPr>
          <a:lstStyle/>
          <a:p>
            <a:pPr lvl="0">
              <a:lnSpc>
                <a:spcPct val="120000"/>
              </a:lnSpc>
              <a:buSzPct val="100000"/>
              <a:buFont typeface="Wingdings" pitchFamily="2" charset="2"/>
              <a:buChar char="Ø"/>
            </a:pPr>
            <a:r>
              <a:rPr lang="en-US" sz="2400" dirty="0">
                <a:latin typeface="Times New Roman" panose="02020603050405020304" pitchFamily="18" charset="0"/>
                <a:cs typeface="Times New Roman" panose="02020603050405020304" pitchFamily="18" charset="0"/>
              </a:rPr>
              <a:t>Random Forest (RF) improves attack detection by combining many decision trees, making the model more accurate and reliable.</a:t>
            </a:r>
          </a:p>
          <a:p>
            <a:pPr lvl="0">
              <a:lnSpc>
                <a:spcPct val="120000"/>
              </a:lnSpc>
              <a:buSzPct val="100000"/>
              <a:buFont typeface="Wingdings" pitchFamily="2" charset="2"/>
              <a:buChar char="Ø"/>
            </a:pPr>
            <a:r>
              <a:rPr lang="en-US" sz="2400" dirty="0">
                <a:latin typeface="Times New Roman" panose="02020603050405020304" pitchFamily="18" charset="0"/>
                <a:cs typeface="Times New Roman" panose="02020603050405020304" pitchFamily="18" charset="0"/>
              </a:rPr>
              <a:t>SMOTE creates extra data for rare attacks so that the system treats all types of attacks fairly and doesn’t ignore less common ones.</a:t>
            </a:r>
          </a:p>
          <a:p>
            <a:pPr lvl="0">
              <a:lnSpc>
                <a:spcPct val="120000"/>
              </a:lnSpc>
              <a:buSzPct val="100000"/>
              <a:buFont typeface="Wingdings" pitchFamily="2" charset="2"/>
              <a:buChar char="Ø"/>
            </a:pPr>
            <a:r>
              <a:rPr lang="en-US" sz="2400" dirty="0">
                <a:latin typeface="Times New Roman" panose="02020603050405020304" pitchFamily="18" charset="0"/>
                <a:cs typeface="Times New Roman" panose="02020603050405020304" pitchFamily="18" charset="0"/>
              </a:rPr>
              <a:t>Feature Selection methods (Filter, Wrapper, Embedded, PCC) remove unnecessary data, making the model faster and more efficient.</a:t>
            </a:r>
          </a:p>
          <a:p>
            <a:pPr lvl="0">
              <a:lnSpc>
                <a:spcPct val="120000"/>
              </a:lnSpc>
              <a:buSzPct val="100000"/>
              <a:buFont typeface="Wingdings" pitchFamily="2" charset="2"/>
              <a:buChar char="Ø"/>
            </a:pPr>
            <a:r>
              <a:rPr lang="en-US" sz="2400" dirty="0">
                <a:latin typeface="Times New Roman" panose="02020603050405020304" pitchFamily="18" charset="0"/>
                <a:cs typeface="Times New Roman" panose="02020603050405020304" pitchFamily="18" charset="0"/>
              </a:rPr>
              <a:t>Combined Benefit: Using both data balancing and feature selection helps the system avoid mistakes, improve accuracy, and give better results.</a:t>
            </a:r>
          </a:p>
        </p:txBody>
      </p:sp>
    </p:spTree>
    <p:extLst>
      <p:ext uri="{BB962C8B-B14F-4D97-AF65-F5344CB8AC3E}">
        <p14:creationId xmlns:p14="http://schemas.microsoft.com/office/powerpoint/2010/main" val="4281571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75197" y="647824"/>
            <a:ext cx="14851856" cy="1306663"/>
          </a:xfrm>
        </p:spPr>
        <p:txBody>
          <a:bodyPr>
            <a:normAutofit/>
          </a:bodyPr>
          <a:lstStyle/>
          <a:p>
            <a:pPr algn="ctr"/>
            <a:r>
              <a:rPr lang="en-US" sz="4400" b="1" dirty="0">
                <a:solidFill>
                  <a:schemeClr val="accent2">
                    <a:lumMod val="50000"/>
                  </a:schemeClr>
                </a:solidFill>
                <a:latin typeface="Times New Roman" panose="02020603050405020304" pitchFamily="18" charset="0"/>
                <a:cs typeface="Times New Roman" panose="02020603050405020304" pitchFamily="18" charset="0"/>
              </a:rPr>
              <a:t>EXTENSION  </a:t>
            </a:r>
          </a:p>
        </p:txBody>
      </p:sp>
      <p:sp>
        <p:nvSpPr>
          <p:cNvPr id="4" name="Content Placeholder 3"/>
          <p:cNvSpPr>
            <a:spLocks noGrp="1"/>
          </p:cNvSpPr>
          <p:nvPr>
            <p:ph idx="1"/>
          </p:nvPr>
        </p:nvSpPr>
        <p:spPr>
          <a:xfrm>
            <a:off x="2124361" y="2448024"/>
            <a:ext cx="13753528" cy="4896544"/>
          </a:xfrm>
        </p:spPr>
        <p:txBody>
          <a:bodyPr>
            <a:noAutofit/>
          </a:bodyPr>
          <a:lstStyle/>
          <a:p>
            <a:pPr marL="514350" indent="-514350">
              <a:lnSpc>
                <a:spcPct val="100000"/>
              </a:lnSpc>
              <a:buClr>
                <a:schemeClr val="accent2">
                  <a:lumMod val="50000"/>
                </a:schemeClr>
              </a:buClr>
              <a:buSzPct val="100000"/>
              <a:buNone/>
            </a:pPr>
            <a:endParaRPr lang="en-US" sz="2900" dirty="0">
              <a:latin typeface="Garamond" pitchFamily="18" charset="0"/>
            </a:endParaRPr>
          </a:p>
          <a:p>
            <a:pPr marL="514350" indent="-514350">
              <a:lnSpc>
                <a:spcPct val="100000"/>
              </a:lnSpc>
              <a:buClr>
                <a:schemeClr val="accent2">
                  <a:lumMod val="50000"/>
                </a:schemeClr>
              </a:buClr>
              <a:buSzPct val="100000"/>
              <a:buNone/>
            </a:pPr>
            <a:endParaRPr lang="en-US" sz="2900" dirty="0">
              <a:latin typeface="Garamond" pitchFamily="18" charset="0"/>
            </a:endParaRPr>
          </a:p>
          <a:p>
            <a:pPr>
              <a:lnSpc>
                <a:spcPct val="100000"/>
              </a:lnSpc>
              <a:buClr>
                <a:schemeClr val="accent2">
                  <a:lumMod val="50000"/>
                </a:schemeClr>
              </a:buClr>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project uses a Voting Classifier that combines two models—Boosted Decision Tree and Random Forest—to improve detecting attacks. It picks the class with the highest combined chance, which helps with tricky cases.</a:t>
            </a:r>
          </a:p>
          <a:p>
            <a:pPr>
              <a:lnSpc>
                <a:spcPct val="100000"/>
              </a:lnSpc>
              <a:buClr>
                <a:schemeClr val="accent2">
                  <a:lumMod val="50000"/>
                </a:schemeClr>
              </a:buClr>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Using both models reduces mistakes and works better for different types of attacks and unbalanced data.</a:t>
            </a:r>
          </a:p>
          <a:p>
            <a:pPr>
              <a:lnSpc>
                <a:spcPct val="100000"/>
              </a:lnSpc>
              <a:buClr>
                <a:schemeClr val="accent2">
                  <a:lumMod val="50000"/>
                </a:schemeClr>
              </a:buClr>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simple web page was made with Flask so users can test the system securely by logging in. This makes it easy and safe to use.</a:t>
            </a:r>
          </a:p>
          <a:p>
            <a:pPr marL="514350" indent="-514350">
              <a:lnSpc>
                <a:spcPct val="100000"/>
              </a:lnSpc>
              <a:buClr>
                <a:schemeClr val="accent2">
                  <a:lumMod val="50000"/>
                </a:schemeClr>
              </a:buClr>
              <a:buSzPct val="100000"/>
              <a:buNone/>
            </a:pPr>
            <a:endParaRPr lang="en-US" sz="2900" dirty="0">
              <a:latin typeface="Garamond" pitchFamily="18" charset="0"/>
            </a:endParaRPr>
          </a:p>
          <a:p>
            <a:pPr marL="514350" indent="-514350">
              <a:lnSpc>
                <a:spcPct val="100000"/>
              </a:lnSpc>
              <a:buClr>
                <a:schemeClr val="accent2">
                  <a:lumMod val="50000"/>
                </a:schemeClr>
              </a:buClr>
              <a:buSzPct val="100000"/>
              <a:buNone/>
            </a:pPr>
            <a:endParaRPr lang="en-US" sz="2900" dirty="0">
              <a:latin typeface="Garamond" pitchFamily="18" charset="0"/>
            </a:endParaRPr>
          </a:p>
          <a:p>
            <a:pPr marL="514350" indent="-514350">
              <a:lnSpc>
                <a:spcPct val="100000"/>
              </a:lnSpc>
              <a:buClr>
                <a:schemeClr val="accent2">
                  <a:lumMod val="50000"/>
                </a:schemeClr>
              </a:buClr>
              <a:buSzPct val="100000"/>
              <a:buNone/>
            </a:pPr>
            <a:endParaRPr lang="en-US" sz="2900" dirty="0">
              <a:latin typeface="Garamond" pitchFamily="18" charset="0"/>
            </a:endParaRPr>
          </a:p>
        </p:txBody>
      </p:sp>
    </p:spTree>
    <p:extLst>
      <p:ext uri="{BB962C8B-B14F-4D97-AF65-F5344CB8AC3E}">
        <p14:creationId xmlns:p14="http://schemas.microsoft.com/office/powerpoint/2010/main" val="2000330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40285" y="856603"/>
            <a:ext cx="14851856" cy="1329871"/>
          </a:xfrm>
        </p:spPr>
        <p:txBody>
          <a:bodyPr/>
          <a:lstStyle/>
          <a:p>
            <a:pPr algn="ctr"/>
            <a:r>
              <a:rPr lang="en-US" sz="4400" b="1" dirty="0">
                <a:solidFill>
                  <a:schemeClr val="accent2">
                    <a:lumMod val="50000"/>
                  </a:schemeClr>
                </a:solidFill>
                <a:latin typeface="Times New Roman" panose="02020603050405020304" pitchFamily="18" charset="0"/>
                <a:cs typeface="Times New Roman" panose="02020603050405020304" pitchFamily="18" charset="0"/>
              </a:rPr>
              <a:t>EXTENSION</a:t>
            </a:r>
            <a:r>
              <a:rPr lang="en-US" b="1" dirty="0">
                <a:solidFill>
                  <a:schemeClr val="accent2">
                    <a:lumMod val="50000"/>
                  </a:schemeClr>
                </a:solidFill>
                <a:latin typeface="Garamond" pitchFamily="18" charset="0"/>
              </a:rPr>
              <a:t>  </a:t>
            </a:r>
          </a:p>
        </p:txBody>
      </p:sp>
      <p:sp>
        <p:nvSpPr>
          <p:cNvPr id="4" name="Content Placeholder 3"/>
          <p:cNvSpPr>
            <a:spLocks noGrp="1"/>
          </p:cNvSpPr>
          <p:nvPr>
            <p:ph idx="1"/>
          </p:nvPr>
        </p:nvSpPr>
        <p:spPr>
          <a:xfrm>
            <a:off x="2664421" y="2880072"/>
            <a:ext cx="15115902" cy="6338496"/>
          </a:xfrm>
        </p:spPr>
        <p:txBody>
          <a:bodyPr>
            <a:noAutofit/>
          </a:bodyPr>
          <a:lstStyle/>
          <a:p>
            <a:pPr marL="0" indent="0">
              <a:lnSpc>
                <a:spcPct val="100000"/>
              </a:lnSpc>
              <a:buClr>
                <a:schemeClr val="accent2">
                  <a:lumMod val="50000"/>
                </a:schemeClr>
              </a:buClr>
              <a:buSzPct val="100000"/>
              <a:buNone/>
            </a:pPr>
            <a:endParaRPr lang="en-US" sz="2900" dirty="0">
              <a:latin typeface="Garamond" pitchFamily="18" charset="0"/>
            </a:endParaRPr>
          </a:p>
          <a:p>
            <a:pPr marL="514350" indent="-514350">
              <a:lnSpc>
                <a:spcPct val="100000"/>
              </a:lnSpc>
              <a:buClr>
                <a:schemeClr val="accent2">
                  <a:lumMod val="50000"/>
                </a:schemeClr>
              </a:buClr>
              <a:buSzPct val="100000"/>
              <a:buFont typeface="+mj-lt"/>
              <a:buAutoNum type="arabicPeriod"/>
            </a:pPr>
            <a:r>
              <a:rPr lang="en-US" sz="2400" dirty="0">
                <a:latin typeface="Times New Roman" panose="02020603050405020304" pitchFamily="18" charset="0"/>
                <a:cs typeface="Times New Roman" panose="02020603050405020304" pitchFamily="18" charset="0"/>
              </a:rPr>
              <a:t> The Voting Classifier combines different models to make better and more accurate intrusion detection.</a:t>
            </a:r>
          </a:p>
          <a:p>
            <a:pPr marL="514350" indent="-514350">
              <a:lnSpc>
                <a:spcPct val="100000"/>
              </a:lnSpc>
              <a:buClr>
                <a:schemeClr val="accent2">
                  <a:lumMod val="50000"/>
                </a:schemeClr>
              </a:buClr>
              <a:buSzPct val="100000"/>
              <a:buFont typeface="+mj-lt"/>
              <a:buAutoNum type="arabicPeriod"/>
            </a:pPr>
            <a:r>
              <a:rPr lang="en-US" sz="2400" dirty="0">
                <a:latin typeface="Times New Roman" panose="02020603050405020304" pitchFamily="18" charset="0"/>
                <a:cs typeface="Times New Roman" panose="02020603050405020304" pitchFamily="18" charset="0"/>
              </a:rPr>
              <a:t> It uses Random Forest and Boosted Decision Tree to learn many types of attacks, including rare ones.</a:t>
            </a:r>
          </a:p>
          <a:p>
            <a:pPr marL="514350" indent="-514350">
              <a:lnSpc>
                <a:spcPct val="100000"/>
              </a:lnSpc>
              <a:buClr>
                <a:schemeClr val="accent2">
                  <a:lumMod val="50000"/>
                </a:schemeClr>
              </a:buClr>
              <a:buSzPct val="100000"/>
              <a:buFont typeface="+mj-lt"/>
              <a:buAutoNum type="arabicPeriod"/>
            </a:pPr>
            <a:r>
              <a:rPr lang="en-US" sz="2400" dirty="0">
                <a:latin typeface="Times New Roman" panose="02020603050405020304" pitchFamily="18" charset="0"/>
                <a:cs typeface="Times New Roman" panose="02020603050405020304" pitchFamily="18" charset="0"/>
              </a:rPr>
              <a:t>This approach helps avoid overfitting and keeps predictions steady.</a:t>
            </a:r>
          </a:p>
          <a:p>
            <a:pPr marL="514350" indent="-514350">
              <a:lnSpc>
                <a:spcPct val="100000"/>
              </a:lnSpc>
              <a:buClr>
                <a:schemeClr val="accent2">
                  <a:lumMod val="50000"/>
                </a:schemeClr>
              </a:buClr>
              <a:buSzPct val="100000"/>
              <a:buFont typeface="+mj-lt"/>
              <a:buAutoNum type="arabicPeriod"/>
            </a:pPr>
            <a:r>
              <a:rPr lang="en-US" sz="2400" dirty="0">
                <a:latin typeface="Times New Roman" panose="02020603050405020304" pitchFamily="18" charset="0"/>
                <a:cs typeface="Times New Roman" panose="02020603050405020304" pitchFamily="18" charset="0"/>
              </a:rPr>
              <a:t> Soft voting uses prediction probabilities, helping detect less common attacks in imbalanced data.</a:t>
            </a:r>
          </a:p>
          <a:p>
            <a:pPr marL="0" indent="0">
              <a:lnSpc>
                <a:spcPct val="100000"/>
              </a:lnSpc>
              <a:buClr>
                <a:schemeClr val="accent2">
                  <a:lumMod val="50000"/>
                </a:schemeClr>
              </a:buClr>
              <a:buSzPct val="100000"/>
              <a:buNone/>
            </a:pPr>
            <a:r>
              <a:rPr lang="en-US" sz="2400" dirty="0">
                <a:latin typeface="Times New Roman" panose="02020603050405020304" pitchFamily="18" charset="0"/>
                <a:cs typeface="Times New Roman" panose="02020603050405020304" pitchFamily="18" charset="0"/>
              </a:rPr>
              <a:t>5. A Flask-based web interface with login ensures only authorized users can access and test the system.</a:t>
            </a:r>
          </a:p>
          <a:p>
            <a:pPr marL="0" indent="0">
              <a:lnSpc>
                <a:spcPct val="100000"/>
              </a:lnSpc>
              <a:buClr>
                <a:schemeClr val="accent2">
                  <a:lumMod val="50000"/>
                </a:schemeClr>
              </a:buClr>
              <a:buSzPct val="100000"/>
              <a:buNone/>
            </a:pPr>
            <a:r>
              <a:rPr lang="en-US" sz="2400" dirty="0">
                <a:latin typeface="Times New Roman" panose="02020603050405020304" pitchFamily="18" charset="0"/>
                <a:cs typeface="Times New Roman" panose="02020603050405020304" pitchFamily="18" charset="0"/>
              </a:rPr>
              <a:t>6. The interface is user-friendly and provides quick results while keeping the system secure.</a:t>
            </a:r>
          </a:p>
          <a:p>
            <a:pPr marL="0" indent="0">
              <a:lnSpc>
                <a:spcPct val="100000"/>
              </a:lnSpc>
              <a:buClr>
                <a:schemeClr val="accent2">
                  <a:lumMod val="50000"/>
                </a:schemeClr>
              </a:buClr>
              <a:buSzPct val="100000"/>
              <a:buNone/>
            </a:pPr>
            <a:endParaRPr lang="en-US" sz="2900" dirty="0">
              <a:latin typeface="Garamond" pitchFamily="18" charset="0"/>
            </a:endParaRPr>
          </a:p>
        </p:txBody>
      </p:sp>
    </p:spTree>
    <p:extLst>
      <p:ext uri="{BB962C8B-B14F-4D97-AF65-F5344CB8AC3E}">
        <p14:creationId xmlns:p14="http://schemas.microsoft.com/office/powerpoint/2010/main" val="2000330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20203" y="421281"/>
            <a:ext cx="14851856" cy="1402591"/>
          </a:xfrm>
        </p:spPr>
        <p:txBody>
          <a:bodyPr>
            <a:noAutofit/>
          </a:bodyPr>
          <a:lstStyle/>
          <a:p>
            <a:pPr algn="ctr"/>
            <a:r>
              <a:rPr lang="en-US" sz="4400" b="1" dirty="0">
                <a:solidFill>
                  <a:schemeClr val="accent3">
                    <a:lumMod val="50000"/>
                  </a:schemeClr>
                </a:solidFill>
                <a:latin typeface="Times New Roman" panose="02020603050405020304" pitchFamily="18" charset="0"/>
                <a:cs typeface="Times New Roman" panose="02020603050405020304" pitchFamily="18" charset="0"/>
              </a:rPr>
              <a:t>Software And Hardware Requirements</a:t>
            </a:r>
            <a:r>
              <a:rPr lang="en-US" sz="4400" dirty="0">
                <a:solidFill>
                  <a:schemeClr val="accent3">
                    <a:lumMod val="50000"/>
                  </a:schemeClr>
                </a:solidFill>
                <a:latin typeface="Times New Roman" panose="02020603050405020304" pitchFamily="18" charset="0"/>
                <a:cs typeface="Times New Roman" panose="02020603050405020304" pitchFamily="18" charset="0"/>
              </a:rPr>
              <a:t> </a:t>
            </a:r>
          </a:p>
        </p:txBody>
      </p:sp>
      <p:sp>
        <p:nvSpPr>
          <p:cNvPr id="4" name="Content Placeholder 3"/>
          <p:cNvSpPr>
            <a:spLocks noGrp="1"/>
          </p:cNvSpPr>
          <p:nvPr>
            <p:ph sz="half" idx="1"/>
          </p:nvPr>
        </p:nvSpPr>
        <p:spPr>
          <a:xfrm>
            <a:off x="1620203" y="1583928"/>
            <a:ext cx="8101002" cy="7560840"/>
          </a:xfrm>
        </p:spPr>
        <p:txBody>
          <a:bodyPr>
            <a:normAutofit fontScale="85000" lnSpcReduction="20000"/>
          </a:bodyPr>
          <a:lstStyle/>
          <a:p>
            <a:pPr marL="0" indent="0">
              <a:lnSpc>
                <a:spcPct val="120000"/>
              </a:lnSpc>
              <a:buNone/>
            </a:pPr>
            <a:r>
              <a:rPr lang="en-US" sz="7600" b="1" dirty="0">
                <a:latin typeface="Garamond" pitchFamily="18" charset="0"/>
              </a:rPr>
              <a:t> </a:t>
            </a:r>
            <a:br>
              <a:rPr lang="en-US" sz="5600" b="1" dirty="0">
                <a:latin typeface="Garamond" pitchFamily="18" charset="0"/>
              </a:rPr>
            </a:br>
            <a:r>
              <a:rPr lang="en-US" sz="3100" b="1" dirty="0">
                <a:latin typeface="Times New Roman" panose="02020603050405020304" pitchFamily="18" charset="0"/>
                <a:cs typeface="Times New Roman" panose="02020603050405020304" pitchFamily="18" charset="0"/>
              </a:rPr>
              <a:t>SOFTWARE  REQUIREMENT</a:t>
            </a:r>
          </a:p>
          <a:p>
            <a:pPr marL="0" indent="0">
              <a:lnSpc>
                <a:spcPct val="150000"/>
              </a:lnSpc>
              <a:buNone/>
            </a:pPr>
            <a:r>
              <a:rPr lang="en-US" sz="3100" b="1" dirty="0">
                <a:latin typeface="Times New Roman" panose="02020603050405020304" pitchFamily="18" charset="0"/>
                <a:cs typeface="Times New Roman" panose="02020603050405020304" pitchFamily="18" charset="0"/>
              </a:rPr>
              <a:t>1. Application                        : Anaconda</a:t>
            </a:r>
          </a:p>
          <a:p>
            <a:pPr marL="0" indent="0">
              <a:lnSpc>
                <a:spcPct val="150000"/>
              </a:lnSpc>
              <a:buNone/>
            </a:pPr>
            <a:r>
              <a:rPr lang="en-US" sz="3100" b="1" dirty="0">
                <a:latin typeface="Times New Roman" panose="02020603050405020304" pitchFamily="18" charset="0"/>
                <a:cs typeface="Times New Roman" panose="02020603050405020304" pitchFamily="18" charset="0"/>
              </a:rPr>
              <a:t>2. Primary Language            : Python</a:t>
            </a:r>
          </a:p>
          <a:p>
            <a:pPr marL="0" indent="0">
              <a:lnSpc>
                <a:spcPct val="150000"/>
              </a:lnSpc>
              <a:buNone/>
            </a:pPr>
            <a:r>
              <a:rPr lang="en-US" sz="3100" b="1" dirty="0">
                <a:latin typeface="Times New Roman" panose="02020603050405020304" pitchFamily="18" charset="0"/>
                <a:cs typeface="Times New Roman" panose="02020603050405020304" pitchFamily="18" charset="0"/>
              </a:rPr>
              <a:t>3. Frontend Framework        : Flask</a:t>
            </a:r>
          </a:p>
          <a:p>
            <a:pPr marL="0" indent="0">
              <a:lnSpc>
                <a:spcPct val="150000"/>
              </a:lnSpc>
              <a:buNone/>
            </a:pPr>
            <a:r>
              <a:rPr lang="en-US" sz="3100" b="1" dirty="0">
                <a:latin typeface="Times New Roman" panose="02020603050405020304" pitchFamily="18" charset="0"/>
                <a:cs typeface="Times New Roman" panose="02020603050405020304" pitchFamily="18" charset="0"/>
              </a:rPr>
              <a:t>4. Back-end Framework       : </a:t>
            </a:r>
            <a:r>
              <a:rPr lang="en-US" sz="3100" b="1" dirty="0" err="1">
                <a:latin typeface="Times New Roman" panose="02020603050405020304" pitchFamily="18" charset="0"/>
                <a:cs typeface="Times New Roman" panose="02020603050405020304" pitchFamily="18" charset="0"/>
              </a:rPr>
              <a:t>Jupyter</a:t>
            </a:r>
            <a:r>
              <a:rPr lang="en-US" sz="3100" b="1" dirty="0">
                <a:latin typeface="Times New Roman" panose="02020603050405020304" pitchFamily="18" charset="0"/>
                <a:cs typeface="Times New Roman" panose="02020603050405020304" pitchFamily="18" charset="0"/>
              </a:rPr>
              <a:t> Notebook</a:t>
            </a:r>
          </a:p>
          <a:p>
            <a:pPr marL="0" indent="0">
              <a:lnSpc>
                <a:spcPct val="150000"/>
              </a:lnSpc>
              <a:buNone/>
            </a:pPr>
            <a:r>
              <a:rPr lang="en-US" sz="3100" b="1" dirty="0">
                <a:latin typeface="Times New Roman" panose="02020603050405020304" pitchFamily="18" charset="0"/>
                <a:cs typeface="Times New Roman" panose="02020603050405020304" pitchFamily="18" charset="0"/>
              </a:rPr>
              <a:t>5. Database                            : Sqlite3</a:t>
            </a:r>
          </a:p>
          <a:p>
            <a:pPr marL="0" indent="0">
              <a:lnSpc>
                <a:spcPct val="110000"/>
              </a:lnSpc>
              <a:buNone/>
            </a:pPr>
            <a:r>
              <a:rPr lang="en-US" sz="3100" b="1" dirty="0">
                <a:latin typeface="Times New Roman" panose="02020603050405020304" pitchFamily="18" charset="0"/>
                <a:cs typeface="Times New Roman" panose="02020603050405020304" pitchFamily="18" charset="0"/>
              </a:rPr>
              <a:t>6. Front-End Technologies   : HTML, CSS, </a:t>
            </a:r>
          </a:p>
          <a:p>
            <a:pPr marL="0" indent="0">
              <a:lnSpc>
                <a:spcPct val="110000"/>
              </a:lnSpc>
              <a:buNone/>
            </a:pPr>
            <a:r>
              <a:rPr lang="en-US" sz="3100" b="1" dirty="0">
                <a:latin typeface="Times New Roman" panose="02020603050405020304" pitchFamily="18" charset="0"/>
                <a:cs typeface="Times New Roman" panose="02020603050405020304" pitchFamily="18" charset="0"/>
              </a:rPr>
              <a:t>                                                JavaScript  and</a:t>
            </a:r>
          </a:p>
          <a:p>
            <a:pPr marL="0" indent="0">
              <a:lnSpc>
                <a:spcPct val="110000"/>
              </a:lnSpc>
              <a:buNone/>
            </a:pPr>
            <a:r>
              <a:rPr lang="en-US" sz="3100" b="1" dirty="0">
                <a:latin typeface="Times New Roman" panose="02020603050405020304" pitchFamily="18" charset="0"/>
                <a:cs typeface="Times New Roman" panose="02020603050405020304" pitchFamily="18" charset="0"/>
              </a:rPr>
              <a:t>                                                Bootstrap4</a:t>
            </a:r>
          </a:p>
          <a:p>
            <a:endParaRPr lang="en-US" dirty="0"/>
          </a:p>
        </p:txBody>
      </p:sp>
      <p:sp>
        <p:nvSpPr>
          <p:cNvPr id="5" name="Content Placeholder 4"/>
          <p:cNvSpPr>
            <a:spLocks noGrp="1"/>
          </p:cNvSpPr>
          <p:nvPr>
            <p:ph sz="half" idx="2"/>
          </p:nvPr>
        </p:nvSpPr>
        <p:spPr>
          <a:xfrm>
            <a:off x="9577189" y="2592040"/>
            <a:ext cx="7650956" cy="6720417"/>
          </a:xfrm>
        </p:spPr>
        <p:txBody>
          <a:bodyPr>
            <a:normAutofit fontScale="85000" lnSpcReduction="20000"/>
          </a:bodyPr>
          <a:lstStyle/>
          <a:p>
            <a:pPr marL="0" indent="0">
              <a:lnSpc>
                <a:spcPct val="120000"/>
              </a:lnSpc>
              <a:buNone/>
            </a:pPr>
            <a:r>
              <a:rPr lang="en-US" sz="3100" b="1" dirty="0">
                <a:latin typeface="Times New Roman" panose="02020603050405020304" pitchFamily="18" charset="0"/>
                <a:cs typeface="Times New Roman" panose="02020603050405020304" pitchFamily="18" charset="0"/>
              </a:rPr>
              <a:t>HARDWAR  REQUIREMENTS</a:t>
            </a:r>
          </a:p>
          <a:p>
            <a:pPr marL="0" indent="0">
              <a:lnSpc>
                <a:spcPct val="120000"/>
              </a:lnSpc>
              <a:buNone/>
            </a:pPr>
            <a:r>
              <a:rPr lang="en-US" sz="3100" dirty="0">
                <a:latin typeface="Times New Roman" panose="02020603050405020304" pitchFamily="18" charset="0"/>
                <a:cs typeface="Times New Roman" panose="02020603050405020304" pitchFamily="18" charset="0"/>
              </a:rPr>
              <a:t>1. </a:t>
            </a:r>
            <a:r>
              <a:rPr lang="en-US" sz="3100" b="1" dirty="0">
                <a:latin typeface="Times New Roman" panose="02020603050405020304" pitchFamily="18" charset="0"/>
                <a:cs typeface="Times New Roman" panose="02020603050405020304" pitchFamily="18" charset="0"/>
              </a:rPr>
              <a:t>Operating System: Windows only</a:t>
            </a:r>
          </a:p>
          <a:p>
            <a:pPr marL="0" indent="0">
              <a:lnSpc>
                <a:spcPct val="150000"/>
              </a:lnSpc>
              <a:buNone/>
            </a:pPr>
            <a:r>
              <a:rPr lang="en-US" sz="3100" b="1" dirty="0">
                <a:latin typeface="Times New Roman" panose="02020603050405020304" pitchFamily="18" charset="0"/>
                <a:cs typeface="Times New Roman" panose="02020603050405020304" pitchFamily="18" charset="0"/>
              </a:rPr>
              <a:t>2. Processor              :  i5 and above</a:t>
            </a:r>
          </a:p>
          <a:p>
            <a:pPr marL="0" indent="0">
              <a:lnSpc>
                <a:spcPct val="150000"/>
              </a:lnSpc>
              <a:buNone/>
            </a:pPr>
            <a:r>
              <a:rPr lang="en-US" sz="3100" b="1" dirty="0">
                <a:latin typeface="Times New Roman" panose="02020603050405020304" pitchFamily="18" charset="0"/>
                <a:cs typeface="Times New Roman" panose="02020603050405020304" pitchFamily="18" charset="0"/>
              </a:rPr>
              <a:t>3. RAM                     :  8GB and above</a:t>
            </a:r>
          </a:p>
          <a:p>
            <a:pPr marL="0" indent="0">
              <a:lnSpc>
                <a:spcPct val="150000"/>
              </a:lnSpc>
              <a:buNone/>
            </a:pPr>
            <a:r>
              <a:rPr lang="en-US" sz="3100" b="1" dirty="0">
                <a:latin typeface="Times New Roman" panose="02020603050405020304" pitchFamily="18" charset="0"/>
                <a:cs typeface="Times New Roman" panose="02020603050405020304" pitchFamily="18" charset="0"/>
              </a:rPr>
              <a:t>4. Hard Disk            :  25GB and above</a:t>
            </a:r>
          </a:p>
          <a:p>
            <a:endParaRPr lang="en-IN" sz="3100"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20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20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20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fade">
                                      <p:cBhvr>
                                        <p:cTn id="47" dur="20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5">
                                            <p:txEl>
                                              <p:pRg st="0" end="0"/>
                                            </p:txEl>
                                          </p:spTgt>
                                        </p:tgtEl>
                                        <p:attrNameLst>
                                          <p:attrName>style.visibility</p:attrName>
                                        </p:attrNameLst>
                                      </p:cBhvr>
                                      <p:to>
                                        <p:strVal val="visible"/>
                                      </p:to>
                                    </p:set>
                                    <p:animEffect transition="in" filter="fade">
                                      <p:cBhvr>
                                        <p:cTn id="52" dur="2000"/>
                                        <p:tgtEl>
                                          <p:spTgt spid="5">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5">
                                            <p:txEl>
                                              <p:pRg st="1" end="1"/>
                                            </p:txEl>
                                          </p:spTgt>
                                        </p:tgtEl>
                                        <p:attrNameLst>
                                          <p:attrName>style.visibility</p:attrName>
                                        </p:attrNameLst>
                                      </p:cBhvr>
                                      <p:to>
                                        <p:strVal val="visible"/>
                                      </p:to>
                                    </p:set>
                                    <p:animEffect transition="in" filter="fade">
                                      <p:cBhvr>
                                        <p:cTn id="57" dur="2000"/>
                                        <p:tgtEl>
                                          <p:spTgt spid="5">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5">
                                            <p:txEl>
                                              <p:pRg st="2" end="2"/>
                                            </p:txEl>
                                          </p:spTgt>
                                        </p:tgtEl>
                                        <p:attrNameLst>
                                          <p:attrName>style.visibility</p:attrName>
                                        </p:attrNameLst>
                                      </p:cBhvr>
                                      <p:to>
                                        <p:strVal val="visible"/>
                                      </p:to>
                                    </p:set>
                                    <p:animEffect transition="in" filter="fade">
                                      <p:cBhvr>
                                        <p:cTn id="62" dur="2000"/>
                                        <p:tgtEl>
                                          <p:spTgt spid="5">
                                            <p:txEl>
                                              <p:pRg st="2" end="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5">
                                            <p:txEl>
                                              <p:pRg st="3" end="3"/>
                                            </p:txEl>
                                          </p:spTgt>
                                        </p:tgtEl>
                                        <p:attrNameLst>
                                          <p:attrName>style.visibility</p:attrName>
                                        </p:attrNameLst>
                                      </p:cBhvr>
                                      <p:to>
                                        <p:strVal val="visible"/>
                                      </p:to>
                                    </p:set>
                                    <p:animEffect transition="in" filter="fade">
                                      <p:cBhvr>
                                        <p:cTn id="67" dur="2000"/>
                                        <p:tgtEl>
                                          <p:spTgt spid="5">
                                            <p:txEl>
                                              <p:pRg st="3" end="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5">
                                            <p:txEl>
                                              <p:pRg st="4" end="4"/>
                                            </p:txEl>
                                          </p:spTgt>
                                        </p:tgtEl>
                                        <p:attrNameLst>
                                          <p:attrName>style.visibility</p:attrName>
                                        </p:attrNameLst>
                                      </p:cBhvr>
                                      <p:to>
                                        <p:strVal val="visible"/>
                                      </p:to>
                                    </p:set>
                                    <p:animEffect transition="in" filter="fade">
                                      <p:cBhvr>
                                        <p:cTn id="72" dur="20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75197" y="730819"/>
            <a:ext cx="14851856" cy="1401879"/>
          </a:xfrm>
        </p:spPr>
        <p:txBody>
          <a:bodyPr>
            <a:noAutofit/>
          </a:bodyPr>
          <a:lstStyle/>
          <a:p>
            <a:pPr algn="ctr"/>
            <a:r>
              <a:rPr lang="en-US" sz="4400" b="1" dirty="0">
                <a:solidFill>
                  <a:schemeClr val="accent3">
                    <a:lumMod val="50000"/>
                  </a:schemeClr>
                </a:solidFill>
                <a:latin typeface="Times New Roman" panose="02020603050405020304" pitchFamily="18" charset="0"/>
                <a:cs typeface="Times New Roman" panose="02020603050405020304" pitchFamily="18" charset="0"/>
              </a:rPr>
              <a:t>System Architecture</a:t>
            </a:r>
          </a:p>
        </p:txBody>
      </p:sp>
      <p:pic>
        <p:nvPicPr>
          <p:cNvPr id="1026" name="Picture 2"/>
          <p:cNvPicPr>
            <a:picLocks noGrp="1" noChangeAspect="1" noChangeArrowheads="1"/>
          </p:cNvPicPr>
          <p:nvPr>
            <p:ph idx="1"/>
          </p:nvPr>
        </p:nvPicPr>
        <p:blipFill>
          <a:blip r:embed="rId2"/>
          <a:srcRect/>
          <a:stretch>
            <a:fillRect/>
          </a:stretch>
        </p:blipFill>
        <p:spPr bwMode="auto">
          <a:xfrm>
            <a:off x="2808437" y="2761808"/>
            <a:ext cx="11695942" cy="6564784"/>
          </a:xfrm>
          <a:prstGeom prst="rect">
            <a:avLst/>
          </a:prstGeom>
          <a:noFill/>
          <a:ln w="9525">
            <a:noFill/>
            <a:miter lim="800000"/>
            <a:headEnd/>
            <a:tailEnd/>
          </a:ln>
          <a:effectLst/>
        </p:spPr>
      </p:pic>
    </p:spTree>
    <p:extLst>
      <p:ext uri="{BB962C8B-B14F-4D97-AF65-F5344CB8AC3E}">
        <p14:creationId xmlns:p14="http://schemas.microsoft.com/office/powerpoint/2010/main" val="2499327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20203" y="421281"/>
            <a:ext cx="15013770" cy="1450679"/>
          </a:xfrm>
        </p:spPr>
        <p:txBody>
          <a:bodyPr>
            <a:noAutofit/>
          </a:bodyPr>
          <a:lstStyle/>
          <a:p>
            <a:pPr algn="ctr"/>
            <a:r>
              <a:rPr lang="en-US" sz="4400" b="1" dirty="0">
                <a:solidFill>
                  <a:schemeClr val="accent3">
                    <a:lumMod val="50000"/>
                  </a:schemeClr>
                </a:solidFill>
                <a:latin typeface="Times New Roman" panose="02020603050405020304" pitchFamily="18" charset="0"/>
                <a:cs typeface="Times New Roman" panose="02020603050405020304" pitchFamily="18" charset="0"/>
              </a:rPr>
              <a:t>DATA FLOW DIAGRAM</a:t>
            </a:r>
          </a:p>
        </p:txBody>
      </p:sp>
      <p:pic>
        <p:nvPicPr>
          <p:cNvPr id="4" name="Content Placeholder 3"/>
          <p:cNvPicPr>
            <a:picLocks noGrp="1" noChangeAspect="1"/>
          </p:cNvPicPr>
          <p:nvPr>
            <p:ph idx="1"/>
          </p:nvPr>
        </p:nvPicPr>
        <p:blipFill>
          <a:blip r:embed="rId2"/>
          <a:stretch>
            <a:fillRect/>
          </a:stretch>
        </p:blipFill>
        <p:spPr>
          <a:xfrm>
            <a:off x="3240485" y="2713038"/>
            <a:ext cx="10513168" cy="6503738"/>
          </a:xfrm>
          <a:prstGeom prst="rect">
            <a:avLst/>
          </a:prstGeom>
        </p:spPr>
      </p:pic>
    </p:spTree>
    <p:extLst>
      <p:ext uri="{BB962C8B-B14F-4D97-AF65-F5344CB8AC3E}">
        <p14:creationId xmlns:p14="http://schemas.microsoft.com/office/powerpoint/2010/main" val="379369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20203" y="421281"/>
            <a:ext cx="14869754" cy="1306663"/>
          </a:xfrm>
        </p:spPr>
        <p:txBody>
          <a:bodyPr>
            <a:normAutofit/>
          </a:bodyPr>
          <a:lstStyle/>
          <a:p>
            <a:pPr algn="ctr"/>
            <a:r>
              <a:rPr lang="en-US" sz="4400" b="1" dirty="0">
                <a:latin typeface="Times New Roman" panose="02020603050405020304" pitchFamily="18" charset="0"/>
                <a:cs typeface="Times New Roman" panose="02020603050405020304" pitchFamily="18" charset="0"/>
              </a:rPr>
              <a:t>USECASE DIAGRAM</a:t>
            </a:r>
          </a:p>
        </p:txBody>
      </p:sp>
      <p:pic>
        <p:nvPicPr>
          <p:cNvPr id="6" name="Content Placeholder 5"/>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6156772" y="2713038"/>
            <a:ext cx="5779193" cy="591343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20203" y="421281"/>
            <a:ext cx="14581722" cy="1317452"/>
          </a:xfrm>
        </p:spPr>
        <p:txBody>
          <a:bodyPr>
            <a:normAutofit/>
          </a:bodyPr>
          <a:lstStyle/>
          <a:p>
            <a:pPr algn="ctr"/>
            <a:r>
              <a:rPr lang="en-US" sz="4400" b="1" dirty="0">
                <a:latin typeface="Times New Roman" panose="02020603050405020304" pitchFamily="18" charset="0"/>
                <a:cs typeface="Times New Roman" panose="02020603050405020304" pitchFamily="18" charset="0"/>
              </a:rPr>
              <a:t>CLASS DIAGRAM</a:t>
            </a:r>
          </a:p>
        </p:txBody>
      </p:sp>
      <p:pic>
        <p:nvPicPr>
          <p:cNvPr id="6" name="Content Placeholder 5"/>
          <p:cNvPicPr>
            <a:picLocks noGrp="1"/>
          </p:cNvPicPr>
          <p:nvPr>
            <p:ph idx="1"/>
          </p:nvPr>
        </p:nvPicPr>
        <p:blipFill>
          <a:blip r:embed="rId2"/>
          <a:stretch>
            <a:fillRect/>
          </a:stretch>
        </p:blipFill>
        <p:spPr>
          <a:xfrm>
            <a:off x="3835467" y="2997621"/>
            <a:ext cx="10421804" cy="534427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28317" y="791840"/>
            <a:ext cx="14851856" cy="969831"/>
          </a:xfrm>
        </p:spPr>
        <p:txBody>
          <a:bodyPr>
            <a:normAutofit/>
          </a:bodyPr>
          <a:lstStyle/>
          <a:p>
            <a:pPr algn="ctr"/>
            <a:r>
              <a:rPr lang="en-US" sz="4400" b="1" dirty="0">
                <a:latin typeface="Times New Roman" panose="02020603050405020304" pitchFamily="18" charset="0"/>
                <a:cs typeface="Times New Roman" panose="02020603050405020304" pitchFamily="18" charset="0"/>
              </a:rPr>
              <a:t>ACTIVITY DIAGRAM</a:t>
            </a:r>
          </a:p>
        </p:txBody>
      </p:sp>
      <p:pic>
        <p:nvPicPr>
          <p:cNvPr id="6" name="Content Placeholder 5"/>
          <p:cNvPicPr>
            <a:picLocks noGrp="1"/>
          </p:cNvPicPr>
          <p:nvPr>
            <p:ph idx="1"/>
          </p:nvPr>
        </p:nvPicPr>
        <p:blipFill>
          <a:blip r:embed="rId2"/>
          <a:stretch>
            <a:fillRect/>
          </a:stretch>
        </p:blipFill>
        <p:spPr>
          <a:xfrm>
            <a:off x="4819596" y="2713038"/>
            <a:ext cx="8453545" cy="591343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56309" y="575816"/>
            <a:ext cx="14941762" cy="1234655"/>
          </a:xfrm>
        </p:spPr>
        <p:txBody>
          <a:bodyPr>
            <a:normAutofit/>
          </a:bodyPr>
          <a:lstStyle/>
          <a:p>
            <a:pPr algn="ctr"/>
            <a:r>
              <a:rPr lang="en-US" sz="4400" b="1" dirty="0">
                <a:latin typeface="Times New Roman" panose="02020603050405020304" pitchFamily="18" charset="0"/>
                <a:cs typeface="Times New Roman" panose="02020603050405020304" pitchFamily="18" charset="0"/>
              </a:rPr>
              <a:t>SEQUENECE DIAGRAM</a:t>
            </a:r>
          </a:p>
        </p:txBody>
      </p:sp>
      <p:pic>
        <p:nvPicPr>
          <p:cNvPr id="5" name="Content Placeholder 4"/>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5987409" y="2713038"/>
            <a:ext cx="6117920" cy="591343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800325" y="791840"/>
            <a:ext cx="14851856" cy="1185855"/>
          </a:xfrm>
        </p:spPr>
        <p:txBody>
          <a:bodyPr>
            <a:normAutofit/>
          </a:bodyPr>
          <a:lstStyle/>
          <a:p>
            <a:pPr algn="ctr"/>
            <a:r>
              <a:rPr lang="en-US" sz="4400" b="1" dirty="0">
                <a:latin typeface="Times New Roman" panose="02020603050405020304" pitchFamily="18" charset="0"/>
                <a:cs typeface="Times New Roman" panose="02020603050405020304" pitchFamily="18" charset="0"/>
              </a:rPr>
              <a:t>COLLABORATION DIAGRAM</a:t>
            </a:r>
          </a:p>
        </p:txBody>
      </p:sp>
      <p:pic>
        <p:nvPicPr>
          <p:cNvPr id="5" name="Content Placeholder 4"/>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4830968" y="2888068"/>
            <a:ext cx="8430802" cy="55633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800325" y="1165761"/>
            <a:ext cx="14851856" cy="916536"/>
          </a:xfrm>
        </p:spPr>
        <p:txBody>
          <a:bodyPr>
            <a:normAutofit/>
          </a:bodyPr>
          <a:lstStyle/>
          <a:p>
            <a:pPr algn="ctr"/>
            <a:r>
              <a:rPr lang="en-US" sz="4400" b="1" dirty="0">
                <a:latin typeface="Times New Roman" panose="02020603050405020304" pitchFamily="18" charset="0"/>
                <a:cs typeface="Times New Roman" panose="02020603050405020304" pitchFamily="18" charset="0"/>
              </a:rPr>
              <a:t>COMPONENT DIAGRAM </a:t>
            </a:r>
          </a:p>
        </p:txBody>
      </p:sp>
      <p:pic>
        <p:nvPicPr>
          <p:cNvPr id="5" name="Content Placeholder 4"/>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2755893" y="3341185"/>
            <a:ext cx="12580952" cy="465714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75197" y="719832"/>
            <a:ext cx="14851856" cy="1041839"/>
          </a:xfrm>
        </p:spPr>
        <p:txBody>
          <a:bodyPr>
            <a:normAutofit/>
          </a:bodyPr>
          <a:lstStyle/>
          <a:p>
            <a:pPr algn="ctr"/>
            <a:r>
              <a:rPr lang="en-US" sz="4400" b="1" dirty="0">
                <a:latin typeface="Times New Roman" panose="02020603050405020304" pitchFamily="18" charset="0"/>
                <a:cs typeface="Times New Roman" panose="02020603050405020304" pitchFamily="18" charset="0"/>
              </a:rPr>
              <a:t>DEPLOYMENT DIAGRAM</a:t>
            </a:r>
          </a:p>
        </p:txBody>
      </p:sp>
      <p:pic>
        <p:nvPicPr>
          <p:cNvPr id="5" name="Content Placeholder 4"/>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3449650" y="3024088"/>
            <a:ext cx="11193437" cy="54006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20203" y="903520"/>
            <a:ext cx="14851856" cy="1100159"/>
          </a:xfrm>
        </p:spPr>
        <p:txBody>
          <a:bodyPr>
            <a:normAutofit/>
          </a:bodyPr>
          <a:lstStyle/>
          <a:p>
            <a:pPr algn="ctr"/>
            <a:r>
              <a:rPr lang="en-US" sz="4400" b="1" dirty="0">
                <a:solidFill>
                  <a:srgbClr val="9CB084">
                    <a:lumMod val="50000"/>
                  </a:srgbClr>
                </a:solidFill>
                <a:latin typeface="Times New Roman" panose="02020603050405020304" pitchFamily="18" charset="0"/>
                <a:cs typeface="Times New Roman" panose="02020603050405020304" pitchFamily="18" charset="0"/>
              </a:rPr>
              <a:t>FLOW OF WORK /WORKING MODULES</a:t>
            </a:r>
            <a:endParaRPr lang="en-US" sz="4400" b="1"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1872333" y="2736056"/>
            <a:ext cx="14599726" cy="5890969"/>
          </a:xfrm>
        </p:spPr>
        <p:txBody>
          <a:bodyPr>
            <a:noAutofit/>
          </a:bodyPr>
          <a:lstStyle/>
          <a:p>
            <a:pPr marL="0" lvl="0" indent="0">
              <a:lnSpc>
                <a:spcPct val="100000"/>
              </a:lnSpc>
              <a:buClr>
                <a:schemeClr val="accent2">
                  <a:lumMod val="50000"/>
                </a:schemeClr>
              </a:buClr>
              <a:buSzPct val="100000"/>
              <a:buNone/>
            </a:pPr>
            <a:endParaRPr lang="en-US" sz="2400" dirty="0">
              <a:latin typeface="Garamond" pitchFamily="18" charset="0"/>
            </a:endParaRPr>
          </a:p>
          <a:p>
            <a:pPr lvl="0">
              <a:lnSpc>
                <a:spcPct val="100000"/>
              </a:lnSpc>
              <a:buClr>
                <a:schemeClr val="accent2">
                  <a:lumMod val="50000"/>
                </a:schemeClr>
              </a:buClr>
              <a:buSzPct val="100000"/>
              <a:buFont typeface="Wingdings" pitchFamily="2" charset="2"/>
              <a:buChar char="Ø"/>
            </a:pPr>
            <a:r>
              <a:rPr lang="en-US" sz="2400" b="1" dirty="0">
                <a:latin typeface="Times New Roman" panose="02020603050405020304" pitchFamily="18" charset="0"/>
                <a:cs typeface="Times New Roman" panose="02020603050405020304" pitchFamily="18" charset="0"/>
              </a:rPr>
              <a:t>Data Loading</a:t>
            </a:r>
            <a:r>
              <a:rPr lang="en-US" sz="2400" dirty="0">
                <a:latin typeface="Times New Roman" panose="02020603050405020304" pitchFamily="18" charset="0"/>
                <a:cs typeface="Times New Roman" panose="02020603050405020304" pitchFamily="18" charset="0"/>
              </a:rPr>
              <a:t>: Import the dataset into the system.</a:t>
            </a:r>
          </a:p>
          <a:p>
            <a:pPr lvl="0">
              <a:lnSpc>
                <a:spcPct val="100000"/>
              </a:lnSpc>
              <a:buClr>
                <a:schemeClr val="accent2">
                  <a:lumMod val="50000"/>
                </a:schemeClr>
              </a:buClr>
              <a:buSzPct val="100000"/>
              <a:buFont typeface="Wingdings" pitchFamily="2" charset="2"/>
              <a:buChar char="Ø"/>
            </a:pPr>
            <a:r>
              <a:rPr lang="en-US" sz="2400" b="1" dirty="0">
                <a:latin typeface="Times New Roman" panose="02020603050405020304" pitchFamily="18" charset="0"/>
                <a:cs typeface="Times New Roman" panose="02020603050405020304" pitchFamily="18" charset="0"/>
              </a:rPr>
              <a:t>Data Processing </a:t>
            </a:r>
            <a:r>
              <a:rPr lang="en-US" sz="2400" dirty="0">
                <a:latin typeface="Times New Roman" panose="02020603050405020304" pitchFamily="18" charset="0"/>
                <a:cs typeface="Times New Roman" panose="02020603050405020304" pitchFamily="18" charset="0"/>
              </a:rPr>
              <a:t>: Clean the data by removing duplicates, dropping unnecessary parts, and normalizing values to prepare for analysis.</a:t>
            </a:r>
          </a:p>
          <a:p>
            <a:pPr lvl="0">
              <a:lnSpc>
                <a:spcPct val="100000"/>
              </a:lnSpc>
              <a:buClr>
                <a:schemeClr val="accent2">
                  <a:lumMod val="50000"/>
                </a:schemeClr>
              </a:buClr>
              <a:buSzPct val="100000"/>
              <a:buFont typeface="Wingdings" pitchFamily="2" charset="2"/>
              <a:buChar char="Ø"/>
            </a:pPr>
            <a:r>
              <a:rPr lang="en-US" sz="2400" b="1" dirty="0">
                <a:latin typeface="Times New Roman" panose="02020603050405020304" pitchFamily="18" charset="0"/>
                <a:cs typeface="Times New Roman" panose="02020603050405020304" pitchFamily="18" charset="0"/>
              </a:rPr>
              <a:t>Data Visualization</a:t>
            </a:r>
            <a:r>
              <a:rPr lang="en-US" sz="2400" dirty="0">
                <a:latin typeface="Times New Roman" panose="02020603050405020304" pitchFamily="18" charset="0"/>
                <a:cs typeface="Times New Roman" panose="02020603050405020304" pitchFamily="18" charset="0"/>
              </a:rPr>
              <a:t>: Use charts and graphs to show patterns and trends in the data clearly.</a:t>
            </a:r>
          </a:p>
          <a:p>
            <a:pPr lvl="0">
              <a:lnSpc>
                <a:spcPct val="100000"/>
              </a:lnSpc>
              <a:buClr>
                <a:schemeClr val="accent2">
                  <a:lumMod val="50000"/>
                </a:schemeClr>
              </a:buClr>
              <a:buSzPct val="100000"/>
              <a:buFont typeface="Wingdings" pitchFamily="2" charset="2"/>
              <a:buChar char="Ø"/>
            </a:pPr>
            <a:r>
              <a:rPr lang="en-US" sz="2400" b="1" dirty="0">
                <a:latin typeface="Times New Roman" panose="02020603050405020304" pitchFamily="18" charset="0"/>
                <a:cs typeface="Times New Roman" panose="02020603050405020304" pitchFamily="18" charset="0"/>
              </a:rPr>
              <a:t>Label Encoding</a:t>
            </a:r>
            <a:r>
              <a:rPr lang="en-US" sz="2400" dirty="0">
                <a:latin typeface="Times New Roman" panose="02020603050405020304" pitchFamily="18" charset="0"/>
                <a:cs typeface="Times New Roman" panose="02020603050405020304" pitchFamily="18" charset="0"/>
              </a:rPr>
              <a:t>: Convert text categories into numbers so the model can understand them better.</a:t>
            </a:r>
          </a:p>
          <a:p>
            <a:pPr lvl="0">
              <a:lnSpc>
                <a:spcPct val="100000"/>
              </a:lnSpc>
              <a:buClr>
                <a:schemeClr val="accent2">
                  <a:lumMod val="50000"/>
                </a:schemeClr>
              </a:buClr>
              <a:buSzPct val="100000"/>
              <a:buFont typeface="Wingdings" pitchFamily="2" charset="2"/>
              <a:buChar char="Ø"/>
            </a:pPr>
            <a:r>
              <a:rPr lang="en-US" sz="2400" b="1" dirty="0">
                <a:latin typeface="Times New Roman" panose="02020603050405020304" pitchFamily="18" charset="0"/>
                <a:cs typeface="Times New Roman" panose="02020603050405020304" pitchFamily="18" charset="0"/>
              </a:rPr>
              <a:t>Feature </a:t>
            </a:r>
            <a:r>
              <a:rPr lang="en-US" sz="2400" b="1" dirty="0" err="1">
                <a:latin typeface="Times New Roman" panose="02020603050405020304" pitchFamily="18" charset="0"/>
                <a:cs typeface="Times New Roman" panose="02020603050405020304" pitchFamily="18" charset="0"/>
              </a:rPr>
              <a:t>Selection</a:t>
            </a:r>
            <a:r>
              <a:rPr lang="en-US" sz="2400" dirty="0" err="1">
                <a:latin typeface="Times New Roman" panose="02020603050405020304" pitchFamily="18" charset="0"/>
                <a:cs typeface="Times New Roman" panose="02020603050405020304" pitchFamily="18" charset="0"/>
              </a:rPr>
              <a:t>:Choose</a:t>
            </a:r>
            <a:r>
              <a:rPr lang="en-US" sz="2400" dirty="0">
                <a:latin typeface="Times New Roman" panose="02020603050405020304" pitchFamily="18" charset="0"/>
                <a:cs typeface="Times New Roman" panose="02020603050405020304" pitchFamily="18" charset="0"/>
              </a:rPr>
              <a:t> the most important features using methods like Filter, Wrapper, and Embedded techniques for better model performance.</a:t>
            </a:r>
          </a:p>
          <a:p>
            <a:pPr lvl="0">
              <a:lnSpc>
                <a:spcPct val="100000"/>
              </a:lnSpc>
              <a:buClr>
                <a:schemeClr val="accent2">
                  <a:lumMod val="50000"/>
                </a:schemeClr>
              </a:buClr>
              <a:buSzPct val="100000"/>
              <a:buFont typeface="Wingdings" pitchFamily="2" charset="2"/>
              <a:buChar char="Ø"/>
            </a:pPr>
            <a:endParaRPr lang="en-IN" sz="2400" dirty="0">
              <a:latin typeface="Garamond"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75197" y="903520"/>
            <a:ext cx="14851856" cy="1100159"/>
          </a:xfrm>
        </p:spPr>
        <p:txBody>
          <a:bodyPr>
            <a:normAutofit/>
          </a:bodyPr>
          <a:lstStyle/>
          <a:p>
            <a:pPr algn="ctr"/>
            <a:r>
              <a:rPr lang="en-US" sz="4400" b="1" dirty="0">
                <a:solidFill>
                  <a:schemeClr val="accent2">
                    <a:lumMod val="50000"/>
                  </a:schemeClr>
                </a:solidFill>
                <a:latin typeface="Times New Roman" panose="02020603050405020304" pitchFamily="18" charset="0"/>
                <a:cs typeface="Times New Roman" panose="02020603050405020304" pitchFamily="18" charset="0"/>
              </a:rPr>
              <a:t>FLOW OF WORK /WORKING MODULES</a:t>
            </a:r>
          </a:p>
        </p:txBody>
      </p:sp>
      <p:sp>
        <p:nvSpPr>
          <p:cNvPr id="4" name="Content Placeholder 3"/>
          <p:cNvSpPr>
            <a:spLocks noGrp="1"/>
          </p:cNvSpPr>
          <p:nvPr>
            <p:ph idx="1"/>
          </p:nvPr>
        </p:nvSpPr>
        <p:spPr>
          <a:xfrm>
            <a:off x="1944341" y="2952080"/>
            <a:ext cx="14527718" cy="5674945"/>
          </a:xfrm>
        </p:spPr>
        <p:txBody>
          <a:bodyPr>
            <a:normAutofit/>
          </a:bodyPr>
          <a:lstStyle/>
          <a:p>
            <a:pPr marL="0" indent="0">
              <a:buNone/>
            </a:pPr>
            <a:endParaRPr lang="en-IN" dirty="0">
              <a:latin typeface="Garamond" pitchFamily="18" charset="0"/>
            </a:endParaRPr>
          </a:p>
          <a:p>
            <a:r>
              <a:rPr lang="en-IN" dirty="0">
                <a:latin typeface="Garamond" pitchFamily="18" charset="0"/>
              </a:rPr>
              <a:t>1. </a:t>
            </a:r>
            <a:r>
              <a:rPr lang="en-IN" sz="2400" b="1" dirty="0">
                <a:latin typeface="Times New Roman" panose="02020603050405020304" pitchFamily="18" charset="0"/>
                <a:cs typeface="Times New Roman" panose="02020603050405020304" pitchFamily="18" charset="0"/>
              </a:rPr>
              <a:t>Oversampling </a:t>
            </a:r>
            <a:r>
              <a:rPr lang="en-IN" sz="2400" dirty="0">
                <a:latin typeface="Times New Roman" panose="02020603050405020304" pitchFamily="18" charset="0"/>
                <a:cs typeface="Times New Roman" panose="02020603050405020304" pitchFamily="18" charset="0"/>
              </a:rPr>
              <a:t>: Use SMOTE to increase minority class data, balancing the dataset and helping the model detect rare attacks better.</a:t>
            </a:r>
          </a:p>
          <a:p>
            <a:r>
              <a:rPr lang="en-IN" sz="2400" dirty="0">
                <a:latin typeface="Times New Roman" panose="02020603050405020304" pitchFamily="18" charset="0"/>
                <a:cs typeface="Times New Roman" panose="02020603050405020304" pitchFamily="18" charset="0"/>
              </a:rPr>
              <a:t>2. </a:t>
            </a:r>
            <a:r>
              <a:rPr lang="en-IN" sz="2400" b="1" dirty="0">
                <a:latin typeface="Times New Roman" panose="02020603050405020304" pitchFamily="18" charset="0"/>
                <a:cs typeface="Times New Roman" panose="02020603050405020304" pitchFamily="18" charset="0"/>
              </a:rPr>
              <a:t>Data Splitting </a:t>
            </a:r>
            <a:r>
              <a:rPr lang="en-IN" sz="2400" dirty="0">
                <a:latin typeface="Times New Roman" panose="02020603050405020304" pitchFamily="18" charset="0"/>
                <a:cs typeface="Times New Roman" panose="02020603050405020304" pitchFamily="18" charset="0"/>
              </a:rPr>
              <a:t>: Divide data into training and validation sets.</a:t>
            </a:r>
          </a:p>
          <a:p>
            <a:r>
              <a:rPr lang="en-IN" sz="2400" dirty="0">
                <a:latin typeface="Times New Roman" panose="02020603050405020304" pitchFamily="18" charset="0"/>
                <a:cs typeface="Times New Roman" panose="02020603050405020304" pitchFamily="18" charset="0"/>
              </a:rPr>
              <a:t>3. </a:t>
            </a:r>
            <a:r>
              <a:rPr lang="en-IN" sz="2400" b="1" dirty="0">
                <a:latin typeface="Times New Roman" panose="02020603050405020304" pitchFamily="18" charset="0"/>
                <a:cs typeface="Times New Roman" panose="02020603050405020304" pitchFamily="18" charset="0"/>
              </a:rPr>
              <a:t>Model Generation: </a:t>
            </a:r>
            <a:r>
              <a:rPr lang="en-IN" sz="2400" dirty="0">
                <a:latin typeface="Times New Roman" panose="02020603050405020304" pitchFamily="18" charset="0"/>
                <a:cs typeface="Times New Roman" panose="02020603050405020304" pitchFamily="18" charset="0"/>
              </a:rPr>
              <a:t>Build different models like Random Forest, Decision Tree, AdaBoost, Bernoulli NB, KNN, Logistic Regression, and a Stacking Classifier combining Boosted DT, Bagging RF, and LGBM. Evaluate their performance.</a:t>
            </a:r>
          </a:p>
          <a:p>
            <a:r>
              <a:rPr lang="en-IN" sz="2400" dirty="0">
                <a:latin typeface="Times New Roman" panose="02020603050405020304" pitchFamily="18" charset="0"/>
                <a:cs typeface="Times New Roman" panose="02020603050405020304" pitchFamily="18" charset="0"/>
              </a:rPr>
              <a:t>4. </a:t>
            </a:r>
            <a:r>
              <a:rPr lang="en-IN" sz="2400" b="1" dirty="0">
                <a:latin typeface="Times New Roman" panose="02020603050405020304" pitchFamily="18" charset="0"/>
                <a:cs typeface="Times New Roman" panose="02020603050405020304" pitchFamily="18" charset="0"/>
              </a:rPr>
              <a:t>User Signup &amp; Login</a:t>
            </a:r>
            <a:r>
              <a:rPr lang="en-IN" sz="2400" dirty="0">
                <a:latin typeface="Times New Roman" panose="02020603050405020304" pitchFamily="18" charset="0"/>
                <a:cs typeface="Times New Roman" panose="02020603050405020304" pitchFamily="18" charset="0"/>
              </a:rPr>
              <a:t>: Allow users to register and log in.</a:t>
            </a:r>
          </a:p>
          <a:p>
            <a:r>
              <a:rPr lang="en-IN" sz="2400" dirty="0">
                <a:latin typeface="Times New Roman" panose="02020603050405020304" pitchFamily="18" charset="0"/>
                <a:cs typeface="Times New Roman" panose="02020603050405020304" pitchFamily="18" charset="0"/>
              </a:rPr>
              <a:t>5. </a:t>
            </a:r>
            <a:r>
              <a:rPr lang="en-IN" sz="2400" b="1" dirty="0">
                <a:latin typeface="Times New Roman" panose="02020603050405020304" pitchFamily="18" charset="0"/>
                <a:cs typeface="Times New Roman" panose="02020603050405020304" pitchFamily="18" charset="0"/>
              </a:rPr>
              <a:t>User Input </a:t>
            </a:r>
            <a:r>
              <a:rPr lang="en-IN" sz="2400" dirty="0">
                <a:latin typeface="Times New Roman" panose="02020603050405020304" pitchFamily="18" charset="0"/>
                <a:cs typeface="Times New Roman" panose="02020603050405020304" pitchFamily="18" charset="0"/>
              </a:rPr>
              <a:t>: Let users provide data for prediction.</a:t>
            </a:r>
          </a:p>
          <a:p>
            <a:r>
              <a:rPr lang="en-IN" sz="2400" dirty="0">
                <a:latin typeface="Times New Roman" panose="02020603050405020304" pitchFamily="18" charset="0"/>
                <a:cs typeface="Times New Roman" panose="02020603050405020304" pitchFamily="18" charset="0"/>
              </a:rPr>
              <a:t>6. </a:t>
            </a:r>
            <a:r>
              <a:rPr lang="en-IN" sz="2400" b="1" dirty="0">
                <a:latin typeface="Times New Roman" panose="02020603050405020304" pitchFamily="18" charset="0"/>
                <a:cs typeface="Times New Roman" panose="02020603050405020304" pitchFamily="18" charset="0"/>
              </a:rPr>
              <a:t>Prediction </a:t>
            </a:r>
            <a:r>
              <a:rPr lang="en-IN" sz="2400" dirty="0">
                <a:latin typeface="Times New Roman" panose="02020603050405020304" pitchFamily="18" charset="0"/>
                <a:cs typeface="Times New Roman" panose="02020603050405020304" pitchFamily="18" charset="0"/>
              </a:rPr>
              <a:t>: Show the final predicted result.</a:t>
            </a:r>
          </a:p>
          <a:p>
            <a:endParaRPr lang="en-IN" dirty="0">
              <a:latin typeface="Garamond"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32478" y="903520"/>
            <a:ext cx="14851856" cy="1100159"/>
          </a:xfrm>
        </p:spPr>
        <p:txBody>
          <a:bodyPr>
            <a:normAutofit/>
          </a:bodyPr>
          <a:lstStyle/>
          <a:p>
            <a:pPr algn="ctr"/>
            <a:r>
              <a:rPr lang="en-US" sz="4400" b="1" dirty="0">
                <a:solidFill>
                  <a:schemeClr val="accent2">
                    <a:lumMod val="50000"/>
                  </a:schemeClr>
                </a:solidFill>
                <a:latin typeface="Times New Roman" panose="02020603050405020304" pitchFamily="18" charset="0"/>
                <a:cs typeface="Times New Roman" panose="02020603050405020304" pitchFamily="18" charset="0"/>
              </a:rPr>
              <a:t>ALGORITHMS USED </a:t>
            </a:r>
          </a:p>
        </p:txBody>
      </p:sp>
      <p:sp>
        <p:nvSpPr>
          <p:cNvPr id="7" name="Content Placeholder 6"/>
          <p:cNvSpPr>
            <a:spLocks noGrp="1"/>
          </p:cNvSpPr>
          <p:nvPr>
            <p:ph idx="1"/>
          </p:nvPr>
        </p:nvSpPr>
        <p:spPr>
          <a:xfrm>
            <a:off x="1872333" y="3096096"/>
            <a:ext cx="14599726" cy="5530929"/>
          </a:xfrm>
        </p:spPr>
        <p:txBody>
          <a:bodyPr>
            <a:normAutofit/>
          </a:bodyPr>
          <a:lstStyle/>
          <a:p>
            <a:pPr lvl="0"/>
            <a:r>
              <a:rPr lang="en-IN" sz="2400" dirty="0">
                <a:latin typeface="Times New Roman" panose="02020603050405020304" pitchFamily="18" charset="0"/>
                <a:cs typeface="Times New Roman" panose="02020603050405020304" pitchFamily="18" charset="0"/>
              </a:rPr>
              <a:t>Random Forest</a:t>
            </a:r>
          </a:p>
          <a:p>
            <a:pPr lvl="0"/>
            <a:r>
              <a:rPr lang="en-IN" sz="2400" dirty="0">
                <a:latin typeface="Times New Roman" panose="02020603050405020304" pitchFamily="18" charset="0"/>
                <a:cs typeface="Times New Roman" panose="02020603050405020304" pitchFamily="18" charset="0"/>
              </a:rPr>
              <a:t>Decision Tree</a:t>
            </a:r>
          </a:p>
          <a:p>
            <a:pPr lvl="0"/>
            <a:r>
              <a:rPr lang="en-IN" sz="2400" dirty="0">
                <a:latin typeface="Times New Roman" panose="02020603050405020304" pitchFamily="18" charset="0"/>
                <a:cs typeface="Times New Roman" panose="02020603050405020304" pitchFamily="18" charset="0"/>
              </a:rPr>
              <a:t>AdaBoost</a:t>
            </a:r>
          </a:p>
          <a:p>
            <a:pPr lvl="0"/>
            <a:r>
              <a:rPr lang="en-IN" sz="2400" dirty="0">
                <a:latin typeface="Times New Roman" panose="02020603050405020304" pitchFamily="18" charset="0"/>
                <a:cs typeface="Times New Roman" panose="02020603050405020304" pitchFamily="18" charset="0"/>
              </a:rPr>
              <a:t>Bernoulli NB</a:t>
            </a:r>
          </a:p>
          <a:p>
            <a:pPr lvl="0"/>
            <a:r>
              <a:rPr lang="en-IN" sz="2400" dirty="0">
                <a:latin typeface="Times New Roman" panose="02020603050405020304" pitchFamily="18" charset="0"/>
                <a:cs typeface="Times New Roman" panose="02020603050405020304" pitchFamily="18" charset="0"/>
              </a:rPr>
              <a:t>KNN</a:t>
            </a:r>
          </a:p>
          <a:p>
            <a:pPr lvl="0"/>
            <a:r>
              <a:rPr lang="en-IN" sz="2400" dirty="0">
                <a:latin typeface="Times New Roman" panose="02020603050405020304" pitchFamily="18" charset="0"/>
                <a:cs typeface="Times New Roman" panose="02020603050405020304" pitchFamily="18" charset="0"/>
              </a:rPr>
              <a:t>Logistic Regression</a:t>
            </a:r>
          </a:p>
          <a:p>
            <a:pPr lvl="0"/>
            <a:r>
              <a:rPr lang="en-IN" sz="2400" dirty="0">
                <a:latin typeface="Times New Roman" panose="02020603050405020304" pitchFamily="18" charset="0"/>
                <a:cs typeface="Times New Roman" panose="02020603050405020304" pitchFamily="18" charset="0"/>
              </a:rPr>
              <a:t>Voting Classifier (Boosted DT + Bagging with RF)</a:t>
            </a:r>
          </a:p>
          <a:p>
            <a:pPr marL="0" indent="0">
              <a:buNone/>
            </a:pPr>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solidFill>
                  <a:schemeClr val="accent2">
                    <a:lumMod val="50000"/>
                  </a:schemeClr>
                </a:solidFill>
                <a:latin typeface="Garamond" pitchFamily="18" charset="0"/>
              </a:rPr>
              <a:t>ALGORITHMS USED </a:t>
            </a:r>
          </a:p>
        </p:txBody>
      </p:sp>
      <p:sp>
        <p:nvSpPr>
          <p:cNvPr id="7" name="Content Placeholder 6"/>
          <p:cNvSpPr>
            <a:spLocks noGrp="1"/>
          </p:cNvSpPr>
          <p:nvPr>
            <p:ph idx="1"/>
          </p:nvPr>
        </p:nvSpPr>
        <p:spPr/>
        <p:txBody>
          <a:bodyPr>
            <a:normAutofit/>
          </a:bodyPr>
          <a:lstStyle/>
          <a:p>
            <a:r>
              <a:rPr lang="en-IN" b="1" dirty="0"/>
              <a:t>Random Forest</a:t>
            </a:r>
            <a:endParaRPr lang="en-IN" dirty="0"/>
          </a:p>
          <a:p>
            <a:r>
              <a:rPr lang="en-IN" dirty="0"/>
              <a:t>Random Forest is an ensemble learning method that builds multiple decision trees and merges their outputs to improve predictive accuracy and control overfitting. In the context of the automated Network Intrusion Detection system, it is utilized to classify network traffic and identify potential intrusions effectively by analyzing various features and patterns within the data, ensuring robust detection of both known and unknown attacks.</a:t>
            </a:r>
          </a:p>
          <a:p>
            <a:r>
              <a:rPr lang="en-IN" b="1" dirty="0"/>
              <a:t>Decision Tree</a:t>
            </a:r>
            <a:endParaRPr lang="en-IN" dirty="0"/>
          </a:p>
          <a:p>
            <a:r>
              <a:rPr lang="en-IN" dirty="0"/>
              <a:t>Decision Tree is a supervised learning algorithm that models decisions using a tree-like structure, splitting data based on feature values to achieve the best outcomes. In the NID system, it aids in making clear, interpretable classifications of network traffic, facilitating the identification of anomalies or intrusions based on specific criteria. Its straightforward nature makes it suitable for rapid decision-making in detecting security threats in IoT environments.</a:t>
            </a:r>
          </a:p>
        </p:txBody>
      </p:sp>
    </p:spTree>
    <p:extLst>
      <p:ext uri="{BB962C8B-B14F-4D97-AF65-F5344CB8AC3E}">
        <p14:creationId xmlns:p14="http://schemas.microsoft.com/office/powerpoint/2010/main" val="38393197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solidFill>
                  <a:schemeClr val="accent2">
                    <a:lumMod val="50000"/>
                  </a:schemeClr>
                </a:solidFill>
                <a:latin typeface="Garamond" pitchFamily="18" charset="0"/>
              </a:rPr>
              <a:t>ALGORITHMS USED </a:t>
            </a:r>
          </a:p>
        </p:txBody>
      </p:sp>
      <p:sp>
        <p:nvSpPr>
          <p:cNvPr id="7" name="Content Placeholder 6"/>
          <p:cNvSpPr>
            <a:spLocks noGrp="1"/>
          </p:cNvSpPr>
          <p:nvPr>
            <p:ph idx="1"/>
          </p:nvPr>
        </p:nvSpPr>
        <p:spPr/>
        <p:txBody>
          <a:bodyPr>
            <a:normAutofit/>
          </a:bodyPr>
          <a:lstStyle/>
          <a:p>
            <a:r>
              <a:rPr lang="en-IN" b="1" dirty="0"/>
              <a:t>AdaBoost</a:t>
            </a:r>
            <a:endParaRPr lang="en-IN" dirty="0"/>
          </a:p>
          <a:p>
            <a:r>
              <a:rPr lang="en-IN" dirty="0"/>
              <a:t>AdaBoost, short for Adaptive Boosting, is an ensemble method that combines weak classifiers to create a strong predictive model. Within the automated NID system, AdaBoost enhances the accuracy of intrusion detection by iteratively improving weak classifiers, focusing on misclassified instances from previous iterations. This approach increases the model's sensitivity to subtle attack patterns, thus enhancing the overall security of IoT networks.</a:t>
            </a:r>
          </a:p>
          <a:p>
            <a:r>
              <a:rPr lang="en-IN" b="1" dirty="0"/>
              <a:t>Bernoulli Naive Bayes</a:t>
            </a:r>
            <a:endParaRPr lang="en-IN" dirty="0"/>
          </a:p>
          <a:p>
            <a:r>
              <a:rPr lang="en-IN" dirty="0"/>
              <a:t>Bernoulli Naive Bayes is a probabilistic classifier based on Bayes' theorem, particularly effective for binary features. In the context of the NID system, it is employed to classify network events as benign or malicious based on the presence or absence of certain features. Its simplicity and efficiency make it suitable for real-time intrusion detection, allowing rapid classification and decision-making in IoT environments.</a:t>
            </a:r>
          </a:p>
        </p:txBody>
      </p:sp>
    </p:spTree>
    <p:extLst>
      <p:ext uri="{BB962C8B-B14F-4D97-AF65-F5344CB8AC3E}">
        <p14:creationId xmlns:p14="http://schemas.microsoft.com/office/powerpoint/2010/main" val="34314308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solidFill>
                  <a:schemeClr val="accent2">
                    <a:lumMod val="50000"/>
                  </a:schemeClr>
                </a:solidFill>
                <a:latin typeface="Garamond" pitchFamily="18" charset="0"/>
              </a:rPr>
              <a:t>ALGORITHMS USED </a:t>
            </a:r>
          </a:p>
        </p:txBody>
      </p:sp>
      <p:sp>
        <p:nvSpPr>
          <p:cNvPr id="7" name="Content Placeholder 6"/>
          <p:cNvSpPr>
            <a:spLocks noGrp="1"/>
          </p:cNvSpPr>
          <p:nvPr>
            <p:ph idx="1"/>
          </p:nvPr>
        </p:nvSpPr>
        <p:spPr/>
        <p:txBody>
          <a:bodyPr>
            <a:normAutofit/>
          </a:bodyPr>
          <a:lstStyle/>
          <a:p>
            <a:r>
              <a:rPr lang="en-IN" b="1" dirty="0"/>
              <a:t>K-Nearest </a:t>
            </a:r>
            <a:r>
              <a:rPr lang="en-IN" b="1" dirty="0" err="1"/>
              <a:t>Neighbors</a:t>
            </a:r>
            <a:r>
              <a:rPr lang="en-IN" b="1" dirty="0"/>
              <a:t> (KNN)</a:t>
            </a:r>
            <a:endParaRPr lang="en-IN" dirty="0"/>
          </a:p>
          <a:p>
            <a:r>
              <a:rPr lang="en-IN" dirty="0"/>
              <a:t>K-Nearest </a:t>
            </a:r>
            <a:r>
              <a:rPr lang="en-IN" dirty="0" err="1"/>
              <a:t>Neighbors</a:t>
            </a:r>
            <a:r>
              <a:rPr lang="en-IN" dirty="0"/>
              <a:t> (KNN) is a non-parametric classification algorithm that assigns labels based on the majority class of the nearest </a:t>
            </a:r>
            <a:r>
              <a:rPr lang="en-IN" dirty="0" err="1"/>
              <a:t>neighbors</a:t>
            </a:r>
            <a:r>
              <a:rPr lang="en-IN" dirty="0"/>
              <a:t> in the feature space. In the automated NID system, KNN is used for anomaly detection, identifying unusual patterns in network traffic by comparing incoming data points with historical data. Its intuitive approach and ability to adapt to varying data distributions make it valuable for detecting potential security threats.</a:t>
            </a:r>
          </a:p>
          <a:p>
            <a:r>
              <a:rPr lang="en-IN" b="1" dirty="0"/>
              <a:t>Logistic Regression</a:t>
            </a:r>
            <a:endParaRPr lang="en-IN" dirty="0"/>
          </a:p>
          <a:p>
            <a:r>
              <a:rPr lang="en-IN" dirty="0"/>
              <a:t>Logistic Regression is a statistical method used for binary classification tasks, estimating the probability of a binary outcome based on one or more predictor variables. In the NID system, it helps in assessing the likelihood of a network event being an intrusion, enabling system administrators to prioritize alerts based on risk levels. Its interpretability and efficiency make it a practical choice for modeling relationships in intrusion detection scenarios.</a:t>
            </a:r>
          </a:p>
        </p:txBody>
      </p:sp>
    </p:spTree>
    <p:extLst>
      <p:ext uri="{BB962C8B-B14F-4D97-AF65-F5344CB8AC3E}">
        <p14:creationId xmlns:p14="http://schemas.microsoft.com/office/powerpoint/2010/main" val="7134360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solidFill>
                  <a:schemeClr val="accent2">
                    <a:lumMod val="50000"/>
                  </a:schemeClr>
                </a:solidFill>
                <a:latin typeface="Garamond" pitchFamily="18" charset="0"/>
              </a:rPr>
              <a:t>ALGORITHMS USED </a:t>
            </a:r>
          </a:p>
        </p:txBody>
      </p:sp>
      <p:sp>
        <p:nvSpPr>
          <p:cNvPr id="7" name="Content Placeholder 6"/>
          <p:cNvSpPr>
            <a:spLocks noGrp="1"/>
          </p:cNvSpPr>
          <p:nvPr>
            <p:ph idx="1"/>
          </p:nvPr>
        </p:nvSpPr>
        <p:spPr/>
        <p:txBody>
          <a:bodyPr>
            <a:normAutofit/>
          </a:bodyPr>
          <a:lstStyle/>
          <a:p>
            <a:r>
              <a:rPr lang="en-IN" b="1" dirty="0"/>
              <a:t>Stacking Classifier</a:t>
            </a:r>
            <a:endParaRPr lang="en-IN" dirty="0"/>
          </a:p>
          <a:p>
            <a:r>
              <a:rPr lang="en-IN" dirty="0"/>
              <a:t>The Stacking Classifier is an ensemble learning technique that combines multiple classifiers to improve predictive performance. In the context of the automated NID system, it merges the strengths of classifiers like Boosted Decision Trees, Bagging with Random Forest, and LightGBM to create a robust model. This approach effectively leverages different algorithms' capabilities, enhancing the accuracy and reliability of intrusion detection by providing comprehensive insights from various perspectives within the data.</a:t>
            </a:r>
          </a:p>
        </p:txBody>
      </p:sp>
    </p:spTree>
    <p:extLst>
      <p:ext uri="{BB962C8B-B14F-4D97-AF65-F5344CB8AC3E}">
        <p14:creationId xmlns:p14="http://schemas.microsoft.com/office/powerpoint/2010/main" val="30714203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64221" y="380810"/>
            <a:ext cx="16051212" cy="1175073"/>
          </a:xfrm>
        </p:spPr>
        <p:txBody>
          <a:bodyPr>
            <a:normAutofit/>
          </a:bodyPr>
          <a:lstStyle/>
          <a:p>
            <a:pPr algn="ctr"/>
            <a:r>
              <a:rPr lang="en-US" sz="4400" b="1" dirty="0">
                <a:solidFill>
                  <a:schemeClr val="accent2">
                    <a:lumMod val="50000"/>
                  </a:schemeClr>
                </a:solidFill>
                <a:latin typeface="Times New Roman" panose="02020603050405020304" pitchFamily="18" charset="0"/>
                <a:cs typeface="Times New Roman" panose="02020603050405020304" pitchFamily="18" charset="0"/>
              </a:rPr>
              <a:t>EXECUTION</a:t>
            </a:r>
          </a:p>
        </p:txBody>
      </p:sp>
      <p:grpSp>
        <p:nvGrpSpPr>
          <p:cNvPr id="5" name="Group 4"/>
          <p:cNvGrpSpPr/>
          <p:nvPr/>
        </p:nvGrpSpPr>
        <p:grpSpPr>
          <a:xfrm>
            <a:off x="3500400" y="2039916"/>
            <a:ext cx="11405382" cy="6024732"/>
            <a:chOff x="3500399" y="2039916"/>
            <a:chExt cx="11715831" cy="7072362"/>
          </a:xfrm>
        </p:grpSpPr>
        <p:pic>
          <p:nvPicPr>
            <p:cNvPr id="1026" name="Picture 2"/>
            <p:cNvPicPr>
              <a:picLocks noChangeAspect="1" noChangeArrowheads="1"/>
            </p:cNvPicPr>
            <p:nvPr/>
          </p:nvPicPr>
          <p:blipFill>
            <a:blip r:embed="rId2"/>
            <a:srcRect/>
            <a:stretch>
              <a:fillRect/>
            </a:stretch>
          </p:blipFill>
          <p:spPr bwMode="auto">
            <a:xfrm>
              <a:off x="3500399" y="2728912"/>
              <a:ext cx="11715831" cy="6383366"/>
            </a:xfrm>
            <a:prstGeom prst="rect">
              <a:avLst/>
            </a:prstGeom>
            <a:noFill/>
            <a:ln w="9525">
              <a:solidFill>
                <a:schemeClr val="accent1">
                  <a:lumMod val="50000"/>
                </a:schemeClr>
              </a:solidFill>
              <a:miter lim="800000"/>
              <a:headEnd/>
              <a:tailEnd/>
            </a:ln>
            <a:effectLst/>
          </p:spPr>
        </p:pic>
        <p:sp>
          <p:nvSpPr>
            <p:cNvPr id="4" name="TextBox 3"/>
            <p:cNvSpPr txBox="1"/>
            <p:nvPr/>
          </p:nvSpPr>
          <p:spPr>
            <a:xfrm>
              <a:off x="7643803" y="2039916"/>
              <a:ext cx="3286148" cy="584775"/>
            </a:xfrm>
            <a:prstGeom prst="rect">
              <a:avLst/>
            </a:prstGeom>
            <a:noFill/>
          </p:spPr>
          <p:txBody>
            <a:bodyPr wrap="square" rtlCol="0">
              <a:spAutoFit/>
            </a:bodyPr>
            <a:lstStyle/>
            <a:p>
              <a:pPr algn="ctr"/>
              <a:r>
                <a:rPr lang="en-US" b="1" dirty="0"/>
                <a:t>Step - 1</a:t>
              </a: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pSp>
        <p:nvGrpSpPr>
          <p:cNvPr id="11" name="Group 10"/>
          <p:cNvGrpSpPr/>
          <p:nvPr/>
        </p:nvGrpSpPr>
        <p:grpSpPr>
          <a:xfrm>
            <a:off x="1000069" y="468280"/>
            <a:ext cx="12501650" cy="2643206"/>
            <a:chOff x="1000069" y="468280"/>
            <a:chExt cx="12501650" cy="2643206"/>
          </a:xfrm>
        </p:grpSpPr>
        <p:pic>
          <p:nvPicPr>
            <p:cNvPr id="2050" name="Picture 2"/>
            <p:cNvPicPr>
              <a:picLocks noChangeAspect="1" noChangeArrowheads="1"/>
            </p:cNvPicPr>
            <p:nvPr/>
          </p:nvPicPr>
          <p:blipFill>
            <a:blip r:embed="rId2"/>
            <a:srcRect/>
            <a:stretch>
              <a:fillRect/>
            </a:stretch>
          </p:blipFill>
          <p:spPr bwMode="auto">
            <a:xfrm>
              <a:off x="1000069" y="1182660"/>
              <a:ext cx="12501650" cy="1928826"/>
            </a:xfrm>
            <a:prstGeom prst="rect">
              <a:avLst/>
            </a:prstGeom>
            <a:noFill/>
            <a:ln w="9525">
              <a:solidFill>
                <a:schemeClr val="accent1">
                  <a:lumMod val="50000"/>
                </a:schemeClr>
              </a:solidFill>
              <a:miter lim="800000"/>
              <a:headEnd/>
              <a:tailEnd/>
            </a:ln>
            <a:effectLst/>
          </p:spPr>
        </p:pic>
        <p:sp>
          <p:nvSpPr>
            <p:cNvPr id="7" name="TextBox 6"/>
            <p:cNvSpPr txBox="1"/>
            <p:nvPr/>
          </p:nvSpPr>
          <p:spPr>
            <a:xfrm>
              <a:off x="1000069" y="468280"/>
              <a:ext cx="3286148" cy="584775"/>
            </a:xfrm>
            <a:prstGeom prst="rect">
              <a:avLst/>
            </a:prstGeom>
            <a:noFill/>
          </p:spPr>
          <p:txBody>
            <a:bodyPr wrap="square" rtlCol="0">
              <a:spAutoFit/>
            </a:bodyPr>
            <a:lstStyle/>
            <a:p>
              <a:pPr algn="ctr"/>
              <a:r>
                <a:rPr lang="en-US" b="1" dirty="0"/>
                <a:t>Step - 2 </a:t>
              </a:r>
            </a:p>
          </p:txBody>
        </p:sp>
      </p:grpSp>
      <p:grpSp>
        <p:nvGrpSpPr>
          <p:cNvPr id="12" name="Group 11"/>
          <p:cNvGrpSpPr/>
          <p:nvPr/>
        </p:nvGrpSpPr>
        <p:grpSpPr>
          <a:xfrm>
            <a:off x="3456509" y="3241091"/>
            <a:ext cx="12715964" cy="3143272"/>
            <a:chOff x="928631" y="3468676"/>
            <a:chExt cx="12715964" cy="3143272"/>
          </a:xfrm>
        </p:grpSpPr>
        <p:pic>
          <p:nvPicPr>
            <p:cNvPr id="2051" name="Picture 3"/>
            <p:cNvPicPr>
              <a:picLocks noChangeAspect="1" noChangeArrowheads="1"/>
            </p:cNvPicPr>
            <p:nvPr/>
          </p:nvPicPr>
          <p:blipFill>
            <a:blip r:embed="rId3"/>
            <a:srcRect/>
            <a:stretch>
              <a:fillRect/>
            </a:stretch>
          </p:blipFill>
          <p:spPr bwMode="auto">
            <a:xfrm>
              <a:off x="928631" y="4183056"/>
              <a:ext cx="12715964" cy="2428892"/>
            </a:xfrm>
            <a:prstGeom prst="rect">
              <a:avLst/>
            </a:prstGeom>
            <a:noFill/>
            <a:ln w="9525">
              <a:noFill/>
              <a:miter lim="800000"/>
              <a:headEnd/>
              <a:tailEnd/>
            </a:ln>
            <a:effectLst/>
          </p:spPr>
        </p:pic>
        <p:sp>
          <p:nvSpPr>
            <p:cNvPr id="8" name="TextBox 7"/>
            <p:cNvSpPr txBox="1"/>
            <p:nvPr/>
          </p:nvSpPr>
          <p:spPr>
            <a:xfrm>
              <a:off x="1071507" y="3468676"/>
              <a:ext cx="3286148" cy="584775"/>
            </a:xfrm>
            <a:prstGeom prst="rect">
              <a:avLst/>
            </a:prstGeom>
            <a:noFill/>
          </p:spPr>
          <p:txBody>
            <a:bodyPr wrap="square" rtlCol="0">
              <a:spAutoFit/>
            </a:bodyPr>
            <a:lstStyle/>
            <a:p>
              <a:pPr algn="ctr"/>
              <a:r>
                <a:rPr lang="en-US" b="1" dirty="0"/>
                <a:t>Step - 3 </a:t>
              </a:r>
            </a:p>
          </p:txBody>
        </p:sp>
      </p:grpSp>
      <p:grpSp>
        <p:nvGrpSpPr>
          <p:cNvPr id="13" name="Group 12"/>
          <p:cNvGrpSpPr/>
          <p:nvPr/>
        </p:nvGrpSpPr>
        <p:grpSpPr>
          <a:xfrm>
            <a:off x="642879" y="6513968"/>
            <a:ext cx="12858840" cy="2643206"/>
            <a:chOff x="857193" y="7112014"/>
            <a:chExt cx="12858840" cy="2643206"/>
          </a:xfrm>
        </p:grpSpPr>
        <p:pic>
          <p:nvPicPr>
            <p:cNvPr id="2052" name="Picture 4"/>
            <p:cNvPicPr>
              <a:picLocks noChangeAspect="1" noChangeArrowheads="1"/>
            </p:cNvPicPr>
            <p:nvPr/>
          </p:nvPicPr>
          <p:blipFill>
            <a:blip r:embed="rId4"/>
            <a:srcRect/>
            <a:stretch>
              <a:fillRect/>
            </a:stretch>
          </p:blipFill>
          <p:spPr bwMode="auto">
            <a:xfrm>
              <a:off x="857193" y="7683518"/>
              <a:ext cx="12858840" cy="2071702"/>
            </a:xfrm>
            <a:prstGeom prst="rect">
              <a:avLst/>
            </a:prstGeom>
            <a:noFill/>
            <a:ln w="9525">
              <a:noFill/>
              <a:miter lim="800000"/>
              <a:headEnd/>
              <a:tailEnd/>
            </a:ln>
            <a:effectLst/>
          </p:spPr>
        </p:pic>
        <p:sp>
          <p:nvSpPr>
            <p:cNvPr id="9" name="TextBox 8"/>
            <p:cNvSpPr txBox="1"/>
            <p:nvPr/>
          </p:nvSpPr>
          <p:spPr>
            <a:xfrm>
              <a:off x="928631" y="7112014"/>
              <a:ext cx="3286148" cy="584775"/>
            </a:xfrm>
            <a:prstGeom prst="rect">
              <a:avLst/>
            </a:prstGeom>
            <a:noFill/>
          </p:spPr>
          <p:txBody>
            <a:bodyPr wrap="square" rtlCol="0">
              <a:spAutoFit/>
            </a:bodyPr>
            <a:lstStyle/>
            <a:p>
              <a:pPr algn="ctr"/>
              <a:r>
                <a:rPr lang="en-US" b="1" dirty="0"/>
                <a:t>Step - 4 </a:t>
              </a: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pSp>
        <p:nvGrpSpPr>
          <p:cNvPr id="6" name="Group 5"/>
          <p:cNvGrpSpPr/>
          <p:nvPr/>
        </p:nvGrpSpPr>
        <p:grpSpPr>
          <a:xfrm>
            <a:off x="928631" y="611156"/>
            <a:ext cx="11501518" cy="3786214"/>
            <a:chOff x="928631" y="611156"/>
            <a:chExt cx="11501518" cy="3786214"/>
          </a:xfrm>
        </p:grpSpPr>
        <p:pic>
          <p:nvPicPr>
            <p:cNvPr id="3074" name="Picture 2"/>
            <p:cNvPicPr>
              <a:picLocks noChangeAspect="1" noChangeArrowheads="1"/>
            </p:cNvPicPr>
            <p:nvPr/>
          </p:nvPicPr>
          <p:blipFill>
            <a:blip r:embed="rId2"/>
            <a:srcRect/>
            <a:stretch>
              <a:fillRect/>
            </a:stretch>
          </p:blipFill>
          <p:spPr bwMode="auto">
            <a:xfrm>
              <a:off x="928631" y="1182660"/>
              <a:ext cx="11501518" cy="3214710"/>
            </a:xfrm>
            <a:prstGeom prst="rect">
              <a:avLst/>
            </a:prstGeom>
            <a:noFill/>
            <a:ln w="9525">
              <a:noFill/>
              <a:miter lim="800000"/>
              <a:headEnd/>
              <a:tailEnd/>
            </a:ln>
            <a:effectLst/>
          </p:spPr>
        </p:pic>
        <p:sp>
          <p:nvSpPr>
            <p:cNvPr id="4" name="TextBox 3"/>
            <p:cNvSpPr txBox="1"/>
            <p:nvPr/>
          </p:nvSpPr>
          <p:spPr>
            <a:xfrm>
              <a:off x="1000069" y="611156"/>
              <a:ext cx="3286148" cy="584775"/>
            </a:xfrm>
            <a:prstGeom prst="rect">
              <a:avLst/>
            </a:prstGeom>
            <a:noFill/>
          </p:spPr>
          <p:txBody>
            <a:bodyPr wrap="square" rtlCol="0">
              <a:spAutoFit/>
            </a:bodyPr>
            <a:lstStyle/>
            <a:p>
              <a:pPr algn="ctr"/>
              <a:r>
                <a:rPr lang="en-US" b="1" dirty="0"/>
                <a:t>Step -5 </a:t>
              </a:r>
            </a:p>
          </p:txBody>
        </p:sp>
      </p:grpSp>
      <p:grpSp>
        <p:nvGrpSpPr>
          <p:cNvPr id="7" name="Group 6"/>
          <p:cNvGrpSpPr/>
          <p:nvPr/>
        </p:nvGrpSpPr>
        <p:grpSpPr>
          <a:xfrm>
            <a:off x="2016349" y="5040312"/>
            <a:ext cx="13430344" cy="3019430"/>
            <a:chOff x="1000069" y="5468940"/>
            <a:chExt cx="13430344" cy="3019430"/>
          </a:xfrm>
        </p:grpSpPr>
        <p:pic>
          <p:nvPicPr>
            <p:cNvPr id="3075" name="Picture 3"/>
            <p:cNvPicPr>
              <a:picLocks noChangeAspect="1" noChangeArrowheads="1"/>
            </p:cNvPicPr>
            <p:nvPr/>
          </p:nvPicPr>
          <p:blipFill>
            <a:blip r:embed="rId3"/>
            <a:srcRect/>
            <a:stretch>
              <a:fillRect/>
            </a:stretch>
          </p:blipFill>
          <p:spPr bwMode="auto">
            <a:xfrm>
              <a:off x="1000069" y="6183320"/>
              <a:ext cx="13430344" cy="2305050"/>
            </a:xfrm>
            <a:prstGeom prst="rect">
              <a:avLst/>
            </a:prstGeom>
            <a:noFill/>
            <a:ln w="9525">
              <a:noFill/>
              <a:miter lim="800000"/>
              <a:headEnd/>
              <a:tailEnd/>
            </a:ln>
            <a:effectLst/>
          </p:spPr>
        </p:pic>
        <p:sp>
          <p:nvSpPr>
            <p:cNvPr id="5" name="TextBox 4"/>
            <p:cNvSpPr txBox="1"/>
            <p:nvPr/>
          </p:nvSpPr>
          <p:spPr>
            <a:xfrm>
              <a:off x="1000069" y="5468940"/>
              <a:ext cx="3286148" cy="584775"/>
            </a:xfrm>
            <a:prstGeom prst="rect">
              <a:avLst/>
            </a:prstGeom>
            <a:noFill/>
          </p:spPr>
          <p:txBody>
            <a:bodyPr wrap="square" rtlCol="0">
              <a:spAutoFit/>
            </a:bodyPr>
            <a:lstStyle/>
            <a:p>
              <a:pPr algn="ctr"/>
              <a:r>
                <a:rPr lang="en-US" b="1" dirty="0"/>
                <a:t>Step - 6 </a:t>
              </a: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pSp>
        <p:nvGrpSpPr>
          <p:cNvPr id="4" name="Group 3"/>
          <p:cNvGrpSpPr/>
          <p:nvPr/>
        </p:nvGrpSpPr>
        <p:grpSpPr>
          <a:xfrm>
            <a:off x="2376389" y="863848"/>
            <a:ext cx="13555932" cy="7243168"/>
            <a:chOff x="2285953" y="1325536"/>
            <a:chExt cx="13171537" cy="7904195"/>
          </a:xfrm>
        </p:grpSpPr>
        <p:pic>
          <p:nvPicPr>
            <p:cNvPr id="4098" name="Picture 2"/>
            <p:cNvPicPr>
              <a:picLocks noChangeAspect="1" noChangeArrowheads="1"/>
            </p:cNvPicPr>
            <p:nvPr/>
          </p:nvPicPr>
          <p:blipFill>
            <a:blip r:embed="rId2"/>
            <a:srcRect/>
            <a:stretch>
              <a:fillRect/>
            </a:stretch>
          </p:blipFill>
          <p:spPr bwMode="auto">
            <a:xfrm>
              <a:off x="2285953" y="1897040"/>
              <a:ext cx="13171537" cy="7332691"/>
            </a:xfrm>
            <a:prstGeom prst="rect">
              <a:avLst/>
            </a:prstGeom>
            <a:noFill/>
            <a:ln w="9525">
              <a:noFill/>
              <a:miter lim="800000"/>
              <a:headEnd/>
              <a:tailEnd/>
            </a:ln>
            <a:effectLst/>
          </p:spPr>
        </p:pic>
        <p:sp>
          <p:nvSpPr>
            <p:cNvPr id="3" name="TextBox 2"/>
            <p:cNvSpPr txBox="1"/>
            <p:nvPr/>
          </p:nvSpPr>
          <p:spPr>
            <a:xfrm>
              <a:off x="6429357" y="1325536"/>
              <a:ext cx="4714908" cy="584775"/>
            </a:xfrm>
            <a:prstGeom prst="rect">
              <a:avLst/>
            </a:prstGeom>
            <a:noFill/>
          </p:spPr>
          <p:txBody>
            <a:bodyPr wrap="square" rtlCol="0">
              <a:spAutoFit/>
            </a:bodyPr>
            <a:lstStyle/>
            <a:p>
              <a:pPr algn="ctr"/>
              <a:r>
                <a:rPr lang="en-US" b="1" dirty="0"/>
                <a:t>User Interface </a:t>
              </a: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pSp>
        <p:nvGrpSpPr>
          <p:cNvPr id="6" name="Group 5"/>
          <p:cNvGrpSpPr/>
          <p:nvPr/>
        </p:nvGrpSpPr>
        <p:grpSpPr>
          <a:xfrm>
            <a:off x="1571573" y="1254098"/>
            <a:ext cx="4929222" cy="6929486"/>
            <a:chOff x="1571573" y="1254098"/>
            <a:chExt cx="4929222" cy="6929486"/>
          </a:xfrm>
        </p:grpSpPr>
        <p:pic>
          <p:nvPicPr>
            <p:cNvPr id="5122" name="Picture 2"/>
            <p:cNvPicPr>
              <a:picLocks noChangeAspect="1" noChangeArrowheads="1"/>
            </p:cNvPicPr>
            <p:nvPr/>
          </p:nvPicPr>
          <p:blipFill>
            <a:blip r:embed="rId2"/>
            <a:srcRect/>
            <a:stretch>
              <a:fillRect/>
            </a:stretch>
          </p:blipFill>
          <p:spPr bwMode="auto">
            <a:xfrm>
              <a:off x="1571573" y="1968478"/>
              <a:ext cx="4929222" cy="6215106"/>
            </a:xfrm>
            <a:prstGeom prst="rect">
              <a:avLst/>
            </a:prstGeom>
            <a:noFill/>
            <a:ln w="9525">
              <a:solidFill>
                <a:schemeClr val="accent1">
                  <a:lumMod val="50000"/>
                </a:schemeClr>
              </a:solidFill>
              <a:miter lim="800000"/>
              <a:headEnd/>
              <a:tailEnd/>
            </a:ln>
            <a:effectLst/>
          </p:spPr>
        </p:pic>
        <p:sp>
          <p:nvSpPr>
            <p:cNvPr id="4" name="TextBox 3"/>
            <p:cNvSpPr txBox="1"/>
            <p:nvPr/>
          </p:nvSpPr>
          <p:spPr>
            <a:xfrm>
              <a:off x="2428829" y="1254098"/>
              <a:ext cx="3286148" cy="584775"/>
            </a:xfrm>
            <a:prstGeom prst="rect">
              <a:avLst/>
            </a:prstGeom>
            <a:noFill/>
          </p:spPr>
          <p:txBody>
            <a:bodyPr wrap="square" rtlCol="0">
              <a:spAutoFit/>
            </a:bodyPr>
            <a:lstStyle/>
            <a:p>
              <a:pPr algn="ctr"/>
              <a:r>
                <a:rPr lang="en-US" b="1" dirty="0"/>
                <a:t>Step - 7 </a:t>
              </a:r>
            </a:p>
          </p:txBody>
        </p:sp>
      </p:grpSp>
      <p:grpSp>
        <p:nvGrpSpPr>
          <p:cNvPr id="7" name="Group 6"/>
          <p:cNvGrpSpPr/>
          <p:nvPr/>
        </p:nvGrpSpPr>
        <p:grpSpPr>
          <a:xfrm>
            <a:off x="6786547" y="4254494"/>
            <a:ext cx="4286280" cy="3989394"/>
            <a:chOff x="6786547" y="4254494"/>
            <a:chExt cx="4286280" cy="3989394"/>
          </a:xfrm>
        </p:grpSpPr>
        <p:pic>
          <p:nvPicPr>
            <p:cNvPr id="5123" name="Picture 3"/>
            <p:cNvPicPr>
              <a:picLocks noChangeAspect="1" noChangeArrowheads="1"/>
            </p:cNvPicPr>
            <p:nvPr/>
          </p:nvPicPr>
          <p:blipFill>
            <a:blip r:embed="rId3"/>
            <a:srcRect/>
            <a:stretch>
              <a:fillRect/>
            </a:stretch>
          </p:blipFill>
          <p:spPr bwMode="auto">
            <a:xfrm>
              <a:off x="6786547" y="5183188"/>
              <a:ext cx="4286280" cy="3060700"/>
            </a:xfrm>
            <a:prstGeom prst="rect">
              <a:avLst/>
            </a:prstGeom>
            <a:noFill/>
            <a:ln w="9525">
              <a:solidFill>
                <a:schemeClr val="accent1">
                  <a:lumMod val="50000"/>
                </a:schemeClr>
              </a:solidFill>
              <a:miter lim="800000"/>
              <a:headEnd/>
              <a:tailEnd/>
            </a:ln>
            <a:effectLst/>
          </p:spPr>
        </p:pic>
        <p:sp>
          <p:nvSpPr>
            <p:cNvPr id="5" name="TextBox 4"/>
            <p:cNvSpPr txBox="1"/>
            <p:nvPr/>
          </p:nvSpPr>
          <p:spPr>
            <a:xfrm>
              <a:off x="7143737" y="4254494"/>
              <a:ext cx="3286148" cy="584775"/>
            </a:xfrm>
            <a:prstGeom prst="rect">
              <a:avLst/>
            </a:prstGeom>
            <a:noFill/>
          </p:spPr>
          <p:txBody>
            <a:bodyPr wrap="square" rtlCol="0">
              <a:spAutoFit/>
            </a:bodyPr>
            <a:lstStyle/>
            <a:p>
              <a:pPr algn="ctr"/>
              <a:r>
                <a:rPr lang="en-US" b="1" dirty="0"/>
                <a:t>Step -  8</a:t>
              </a: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pSp>
        <p:nvGrpSpPr>
          <p:cNvPr id="6" name="Group 5"/>
          <p:cNvGrpSpPr/>
          <p:nvPr/>
        </p:nvGrpSpPr>
        <p:grpSpPr>
          <a:xfrm>
            <a:off x="2714581" y="1254098"/>
            <a:ext cx="13171537" cy="7608919"/>
            <a:chOff x="2714581" y="1254098"/>
            <a:chExt cx="13171537" cy="7608919"/>
          </a:xfrm>
        </p:grpSpPr>
        <p:pic>
          <p:nvPicPr>
            <p:cNvPr id="9218" name="Picture 2"/>
            <p:cNvPicPr>
              <a:picLocks noChangeAspect="1" noChangeArrowheads="1"/>
            </p:cNvPicPr>
            <p:nvPr/>
          </p:nvPicPr>
          <p:blipFill>
            <a:blip r:embed="rId2"/>
            <a:srcRect/>
            <a:stretch>
              <a:fillRect/>
            </a:stretch>
          </p:blipFill>
          <p:spPr bwMode="auto">
            <a:xfrm>
              <a:off x="2714581" y="1897040"/>
              <a:ext cx="13171537" cy="6965977"/>
            </a:xfrm>
            <a:prstGeom prst="rect">
              <a:avLst/>
            </a:prstGeom>
            <a:noFill/>
            <a:ln w="9525">
              <a:noFill/>
              <a:miter lim="800000"/>
              <a:headEnd/>
              <a:tailEnd/>
            </a:ln>
            <a:effectLst/>
          </p:spPr>
        </p:pic>
        <p:sp>
          <p:nvSpPr>
            <p:cNvPr id="5" name="TextBox 4"/>
            <p:cNvSpPr txBox="1"/>
            <p:nvPr/>
          </p:nvSpPr>
          <p:spPr>
            <a:xfrm>
              <a:off x="6929423" y="1254098"/>
              <a:ext cx="3286148" cy="584775"/>
            </a:xfrm>
            <a:prstGeom prst="rect">
              <a:avLst/>
            </a:prstGeom>
            <a:noFill/>
          </p:spPr>
          <p:txBody>
            <a:bodyPr wrap="square" rtlCol="0">
              <a:spAutoFit/>
            </a:bodyPr>
            <a:lstStyle/>
            <a:p>
              <a:pPr algn="ctr"/>
              <a:r>
                <a:rPr lang="en-US" b="1" dirty="0"/>
                <a:t>Step - 9 </a:t>
              </a: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pSp>
        <p:nvGrpSpPr>
          <p:cNvPr id="10" name="Group 9"/>
          <p:cNvGrpSpPr/>
          <p:nvPr/>
        </p:nvGrpSpPr>
        <p:grpSpPr>
          <a:xfrm>
            <a:off x="726996" y="572308"/>
            <a:ext cx="8643998" cy="8142260"/>
            <a:chOff x="500003" y="611156"/>
            <a:chExt cx="8643998" cy="8971016"/>
          </a:xfrm>
        </p:grpSpPr>
        <p:pic>
          <p:nvPicPr>
            <p:cNvPr id="6146" name="Picture 2"/>
            <p:cNvPicPr>
              <a:picLocks noChangeAspect="1" noChangeArrowheads="1"/>
            </p:cNvPicPr>
            <p:nvPr/>
          </p:nvPicPr>
          <p:blipFill>
            <a:blip r:embed="rId2"/>
            <a:srcRect/>
            <a:stretch>
              <a:fillRect/>
            </a:stretch>
          </p:blipFill>
          <p:spPr bwMode="auto">
            <a:xfrm>
              <a:off x="500003" y="1682726"/>
              <a:ext cx="4214842" cy="6357982"/>
            </a:xfrm>
            <a:prstGeom prst="rect">
              <a:avLst/>
            </a:prstGeom>
            <a:noFill/>
            <a:ln w="9525">
              <a:solidFill>
                <a:schemeClr val="accent1">
                  <a:lumMod val="50000"/>
                </a:schemeClr>
              </a:solidFill>
              <a:miter lim="800000"/>
              <a:headEnd/>
              <a:tailEnd/>
            </a:ln>
            <a:effectLst/>
          </p:spPr>
        </p:pic>
        <p:pic>
          <p:nvPicPr>
            <p:cNvPr id="6147" name="Picture 3"/>
            <p:cNvPicPr>
              <a:picLocks noChangeAspect="1" noChangeArrowheads="1"/>
            </p:cNvPicPr>
            <p:nvPr/>
          </p:nvPicPr>
          <p:blipFill>
            <a:blip r:embed="rId3"/>
            <a:srcRect/>
            <a:stretch>
              <a:fillRect/>
            </a:stretch>
          </p:blipFill>
          <p:spPr bwMode="auto">
            <a:xfrm>
              <a:off x="4857721" y="4325932"/>
              <a:ext cx="4286280" cy="3714776"/>
            </a:xfrm>
            <a:prstGeom prst="rect">
              <a:avLst/>
            </a:prstGeom>
            <a:noFill/>
            <a:ln w="9525">
              <a:solidFill>
                <a:schemeClr val="accent1">
                  <a:lumMod val="50000"/>
                </a:schemeClr>
              </a:solidFill>
              <a:miter lim="800000"/>
              <a:headEnd/>
              <a:tailEnd/>
            </a:ln>
            <a:effectLst/>
          </p:spPr>
        </p:pic>
        <p:pic>
          <p:nvPicPr>
            <p:cNvPr id="6148" name="Picture 4"/>
            <p:cNvPicPr>
              <a:picLocks noChangeAspect="1" noChangeArrowheads="1"/>
            </p:cNvPicPr>
            <p:nvPr/>
          </p:nvPicPr>
          <p:blipFill>
            <a:blip r:embed="rId4"/>
            <a:srcRect/>
            <a:stretch>
              <a:fillRect/>
            </a:stretch>
          </p:blipFill>
          <p:spPr bwMode="auto">
            <a:xfrm>
              <a:off x="928631" y="8255022"/>
              <a:ext cx="7500990" cy="1327150"/>
            </a:xfrm>
            <a:prstGeom prst="rect">
              <a:avLst/>
            </a:prstGeom>
            <a:noFill/>
            <a:ln w="9525">
              <a:solidFill>
                <a:schemeClr val="accent1">
                  <a:lumMod val="50000"/>
                </a:schemeClr>
              </a:solidFill>
              <a:miter lim="800000"/>
              <a:headEnd/>
              <a:tailEnd/>
            </a:ln>
            <a:effectLst/>
          </p:spPr>
        </p:pic>
        <p:sp>
          <p:nvSpPr>
            <p:cNvPr id="8" name="TextBox 7"/>
            <p:cNvSpPr txBox="1"/>
            <p:nvPr/>
          </p:nvSpPr>
          <p:spPr>
            <a:xfrm>
              <a:off x="1000069" y="611156"/>
              <a:ext cx="3286148" cy="1077218"/>
            </a:xfrm>
            <a:prstGeom prst="rect">
              <a:avLst/>
            </a:prstGeom>
            <a:noFill/>
          </p:spPr>
          <p:txBody>
            <a:bodyPr wrap="square" rtlCol="0">
              <a:spAutoFit/>
            </a:bodyPr>
            <a:lstStyle/>
            <a:p>
              <a:pPr algn="ctr"/>
              <a:r>
                <a:rPr lang="en-US" b="1" dirty="0"/>
                <a:t>Step – 9</a:t>
              </a:r>
              <a:br>
                <a:rPr lang="en-US" b="1" dirty="0"/>
              </a:br>
              <a:r>
                <a:rPr lang="en-US" b="1" dirty="0"/>
                <a:t>Test case 1 </a:t>
              </a:r>
            </a:p>
          </p:txBody>
        </p:sp>
      </p:grpSp>
      <p:grpSp>
        <p:nvGrpSpPr>
          <p:cNvPr id="11" name="Group 10"/>
          <p:cNvGrpSpPr/>
          <p:nvPr/>
        </p:nvGrpSpPr>
        <p:grpSpPr>
          <a:xfrm>
            <a:off x="9865221" y="431800"/>
            <a:ext cx="7572428" cy="8676488"/>
            <a:chOff x="9715505" y="539718"/>
            <a:chExt cx="7572428" cy="9072626"/>
          </a:xfrm>
        </p:grpSpPr>
        <p:pic>
          <p:nvPicPr>
            <p:cNvPr id="6149" name="Picture 5"/>
            <p:cNvPicPr>
              <a:picLocks noChangeAspect="1" noChangeArrowheads="1"/>
            </p:cNvPicPr>
            <p:nvPr/>
          </p:nvPicPr>
          <p:blipFill>
            <a:blip r:embed="rId5"/>
            <a:srcRect/>
            <a:stretch>
              <a:fillRect/>
            </a:stretch>
          </p:blipFill>
          <p:spPr bwMode="auto">
            <a:xfrm>
              <a:off x="9715505" y="1682726"/>
              <a:ext cx="3714776" cy="6429420"/>
            </a:xfrm>
            <a:prstGeom prst="rect">
              <a:avLst/>
            </a:prstGeom>
            <a:noFill/>
            <a:ln w="9525">
              <a:solidFill>
                <a:schemeClr val="accent1">
                  <a:lumMod val="50000"/>
                </a:schemeClr>
              </a:solidFill>
              <a:miter lim="800000"/>
              <a:headEnd/>
              <a:tailEnd/>
            </a:ln>
            <a:effectLst/>
          </p:spPr>
        </p:pic>
        <p:pic>
          <p:nvPicPr>
            <p:cNvPr id="6150" name="Picture 6"/>
            <p:cNvPicPr>
              <a:picLocks noChangeAspect="1" noChangeArrowheads="1"/>
            </p:cNvPicPr>
            <p:nvPr/>
          </p:nvPicPr>
          <p:blipFill>
            <a:blip r:embed="rId6"/>
            <a:srcRect/>
            <a:stretch>
              <a:fillRect/>
            </a:stretch>
          </p:blipFill>
          <p:spPr bwMode="auto">
            <a:xfrm>
              <a:off x="13644595" y="4325932"/>
              <a:ext cx="3643338" cy="3786214"/>
            </a:xfrm>
            <a:prstGeom prst="rect">
              <a:avLst/>
            </a:prstGeom>
            <a:noFill/>
            <a:ln w="9525">
              <a:solidFill>
                <a:schemeClr val="accent1">
                  <a:lumMod val="50000"/>
                </a:schemeClr>
              </a:solidFill>
              <a:miter lim="800000"/>
              <a:headEnd/>
              <a:tailEnd/>
            </a:ln>
            <a:effectLst/>
          </p:spPr>
        </p:pic>
        <p:pic>
          <p:nvPicPr>
            <p:cNvPr id="6151" name="Picture 7"/>
            <p:cNvPicPr>
              <a:picLocks noChangeAspect="1" noChangeArrowheads="1"/>
            </p:cNvPicPr>
            <p:nvPr/>
          </p:nvPicPr>
          <p:blipFill>
            <a:blip r:embed="rId7"/>
            <a:srcRect/>
            <a:stretch>
              <a:fillRect/>
            </a:stretch>
          </p:blipFill>
          <p:spPr bwMode="auto">
            <a:xfrm>
              <a:off x="10072695" y="8326460"/>
              <a:ext cx="7072362" cy="1285884"/>
            </a:xfrm>
            <a:prstGeom prst="rect">
              <a:avLst/>
            </a:prstGeom>
            <a:noFill/>
            <a:ln w="9525">
              <a:solidFill>
                <a:schemeClr val="accent1">
                  <a:lumMod val="50000"/>
                </a:schemeClr>
              </a:solidFill>
              <a:miter lim="800000"/>
              <a:headEnd/>
              <a:tailEnd/>
            </a:ln>
            <a:effectLst/>
          </p:spPr>
        </p:pic>
        <p:sp>
          <p:nvSpPr>
            <p:cNvPr id="9" name="TextBox 8"/>
            <p:cNvSpPr txBox="1"/>
            <p:nvPr/>
          </p:nvSpPr>
          <p:spPr>
            <a:xfrm>
              <a:off x="9786943" y="539718"/>
              <a:ext cx="3286148" cy="1077218"/>
            </a:xfrm>
            <a:prstGeom prst="rect">
              <a:avLst/>
            </a:prstGeom>
            <a:noFill/>
          </p:spPr>
          <p:txBody>
            <a:bodyPr wrap="square" rtlCol="0">
              <a:spAutoFit/>
            </a:bodyPr>
            <a:lstStyle/>
            <a:p>
              <a:pPr algn="ctr"/>
              <a:r>
                <a:rPr lang="en-US" b="1" dirty="0"/>
                <a:t>Step – 9</a:t>
              </a:r>
              <a:br>
                <a:rPr lang="en-US" b="1" dirty="0"/>
              </a:br>
              <a:r>
                <a:rPr lang="en-US" b="1" dirty="0"/>
                <a:t>Test case 2 </a:t>
              </a: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pSp>
        <p:nvGrpSpPr>
          <p:cNvPr id="10" name="Group 9"/>
          <p:cNvGrpSpPr/>
          <p:nvPr/>
        </p:nvGrpSpPr>
        <p:grpSpPr>
          <a:xfrm>
            <a:off x="857193" y="611156"/>
            <a:ext cx="7711604" cy="7741524"/>
            <a:chOff x="857193" y="611156"/>
            <a:chExt cx="7500990" cy="8936092"/>
          </a:xfrm>
        </p:grpSpPr>
        <p:pic>
          <p:nvPicPr>
            <p:cNvPr id="7170" name="Picture 2"/>
            <p:cNvPicPr>
              <a:picLocks noChangeAspect="1" noChangeArrowheads="1"/>
            </p:cNvPicPr>
            <p:nvPr/>
          </p:nvPicPr>
          <p:blipFill>
            <a:blip r:embed="rId2"/>
            <a:srcRect/>
            <a:stretch>
              <a:fillRect/>
            </a:stretch>
          </p:blipFill>
          <p:spPr bwMode="auto">
            <a:xfrm>
              <a:off x="857193" y="1611288"/>
              <a:ext cx="3714776" cy="6500858"/>
            </a:xfrm>
            <a:prstGeom prst="rect">
              <a:avLst/>
            </a:prstGeom>
            <a:noFill/>
            <a:ln w="9525">
              <a:solidFill>
                <a:schemeClr val="accent1">
                  <a:lumMod val="50000"/>
                </a:schemeClr>
              </a:solidFill>
              <a:miter lim="800000"/>
              <a:headEnd/>
              <a:tailEnd/>
            </a:ln>
            <a:effectLst/>
          </p:spPr>
        </p:pic>
        <p:pic>
          <p:nvPicPr>
            <p:cNvPr id="7171" name="Picture 3"/>
            <p:cNvPicPr>
              <a:picLocks noChangeAspect="1" noChangeArrowheads="1"/>
            </p:cNvPicPr>
            <p:nvPr/>
          </p:nvPicPr>
          <p:blipFill>
            <a:blip r:embed="rId3"/>
            <a:srcRect/>
            <a:stretch>
              <a:fillRect/>
            </a:stretch>
          </p:blipFill>
          <p:spPr bwMode="auto">
            <a:xfrm>
              <a:off x="4786283" y="4111618"/>
              <a:ext cx="3571900" cy="4037020"/>
            </a:xfrm>
            <a:prstGeom prst="rect">
              <a:avLst/>
            </a:prstGeom>
            <a:noFill/>
            <a:ln w="9525">
              <a:solidFill>
                <a:schemeClr val="accent1">
                  <a:lumMod val="50000"/>
                </a:schemeClr>
              </a:solidFill>
              <a:miter lim="800000"/>
              <a:headEnd/>
              <a:tailEnd/>
            </a:ln>
            <a:effectLst/>
          </p:spPr>
        </p:pic>
        <p:pic>
          <p:nvPicPr>
            <p:cNvPr id="7172" name="Picture 4"/>
            <p:cNvPicPr>
              <a:picLocks noChangeAspect="1" noChangeArrowheads="1"/>
            </p:cNvPicPr>
            <p:nvPr/>
          </p:nvPicPr>
          <p:blipFill>
            <a:blip r:embed="rId4"/>
            <a:srcRect/>
            <a:stretch>
              <a:fillRect/>
            </a:stretch>
          </p:blipFill>
          <p:spPr bwMode="auto">
            <a:xfrm>
              <a:off x="1214383" y="8397898"/>
              <a:ext cx="6643734" cy="1149350"/>
            </a:xfrm>
            <a:prstGeom prst="rect">
              <a:avLst/>
            </a:prstGeom>
            <a:noFill/>
            <a:ln w="9525">
              <a:solidFill>
                <a:schemeClr val="accent1">
                  <a:lumMod val="50000"/>
                </a:schemeClr>
              </a:solidFill>
              <a:miter lim="800000"/>
              <a:headEnd/>
              <a:tailEnd/>
            </a:ln>
            <a:effectLst/>
          </p:spPr>
        </p:pic>
        <p:sp>
          <p:nvSpPr>
            <p:cNvPr id="8" name="TextBox 7"/>
            <p:cNvSpPr txBox="1"/>
            <p:nvPr/>
          </p:nvSpPr>
          <p:spPr>
            <a:xfrm>
              <a:off x="1000069" y="611156"/>
              <a:ext cx="3286148" cy="1077218"/>
            </a:xfrm>
            <a:prstGeom prst="rect">
              <a:avLst/>
            </a:prstGeom>
            <a:noFill/>
          </p:spPr>
          <p:txBody>
            <a:bodyPr wrap="square" rtlCol="0">
              <a:spAutoFit/>
            </a:bodyPr>
            <a:lstStyle/>
            <a:p>
              <a:pPr algn="ctr"/>
              <a:r>
                <a:rPr lang="en-US" b="1" dirty="0"/>
                <a:t>Step – 9</a:t>
              </a:r>
              <a:br>
                <a:rPr lang="en-US" b="1" dirty="0"/>
              </a:br>
              <a:r>
                <a:rPr lang="en-US" b="1" dirty="0"/>
                <a:t>Test case 3 </a:t>
              </a:r>
            </a:p>
          </p:txBody>
        </p:sp>
      </p:grpSp>
      <p:grpSp>
        <p:nvGrpSpPr>
          <p:cNvPr id="11" name="Group 10"/>
          <p:cNvGrpSpPr/>
          <p:nvPr/>
        </p:nvGrpSpPr>
        <p:grpSpPr>
          <a:xfrm>
            <a:off x="8786811" y="325404"/>
            <a:ext cx="7703146" cy="8243300"/>
            <a:chOff x="8786811" y="325404"/>
            <a:chExt cx="7572428" cy="9298044"/>
          </a:xfrm>
        </p:grpSpPr>
        <p:pic>
          <p:nvPicPr>
            <p:cNvPr id="7173" name="Picture 5"/>
            <p:cNvPicPr>
              <a:picLocks noChangeAspect="1" noChangeArrowheads="1"/>
            </p:cNvPicPr>
            <p:nvPr/>
          </p:nvPicPr>
          <p:blipFill>
            <a:blip r:embed="rId5"/>
            <a:srcRect/>
            <a:stretch>
              <a:fillRect/>
            </a:stretch>
          </p:blipFill>
          <p:spPr bwMode="auto">
            <a:xfrm>
              <a:off x="8786811" y="1539850"/>
              <a:ext cx="3786214" cy="6715172"/>
            </a:xfrm>
            <a:prstGeom prst="rect">
              <a:avLst/>
            </a:prstGeom>
            <a:noFill/>
            <a:ln w="9525">
              <a:solidFill>
                <a:schemeClr val="accent1">
                  <a:lumMod val="50000"/>
                </a:schemeClr>
              </a:solidFill>
              <a:miter lim="800000"/>
              <a:headEnd/>
              <a:tailEnd/>
            </a:ln>
            <a:effectLst/>
          </p:spPr>
        </p:pic>
        <p:pic>
          <p:nvPicPr>
            <p:cNvPr id="7174" name="Picture 6"/>
            <p:cNvPicPr>
              <a:picLocks noChangeAspect="1" noChangeArrowheads="1"/>
            </p:cNvPicPr>
            <p:nvPr/>
          </p:nvPicPr>
          <p:blipFill>
            <a:blip r:embed="rId6"/>
            <a:srcRect/>
            <a:stretch>
              <a:fillRect/>
            </a:stretch>
          </p:blipFill>
          <p:spPr bwMode="auto">
            <a:xfrm>
              <a:off x="12787339" y="3754428"/>
              <a:ext cx="3571900" cy="4500594"/>
            </a:xfrm>
            <a:prstGeom prst="rect">
              <a:avLst/>
            </a:prstGeom>
            <a:noFill/>
            <a:ln w="9525">
              <a:solidFill>
                <a:schemeClr val="accent1">
                  <a:lumMod val="50000"/>
                </a:schemeClr>
              </a:solidFill>
              <a:miter lim="800000"/>
              <a:headEnd/>
              <a:tailEnd/>
            </a:ln>
            <a:effectLst/>
          </p:spPr>
        </p:pic>
        <p:pic>
          <p:nvPicPr>
            <p:cNvPr id="7175" name="Picture 7"/>
            <p:cNvPicPr>
              <a:picLocks noChangeAspect="1" noChangeArrowheads="1"/>
            </p:cNvPicPr>
            <p:nvPr/>
          </p:nvPicPr>
          <p:blipFill>
            <a:blip r:embed="rId7"/>
            <a:srcRect/>
            <a:stretch>
              <a:fillRect/>
            </a:stretch>
          </p:blipFill>
          <p:spPr bwMode="auto">
            <a:xfrm>
              <a:off x="9144001" y="8397898"/>
              <a:ext cx="6786610" cy="1225550"/>
            </a:xfrm>
            <a:prstGeom prst="rect">
              <a:avLst/>
            </a:prstGeom>
            <a:noFill/>
            <a:ln w="9525">
              <a:solidFill>
                <a:schemeClr val="accent1">
                  <a:lumMod val="50000"/>
                </a:schemeClr>
              </a:solidFill>
              <a:miter lim="800000"/>
              <a:headEnd/>
              <a:tailEnd/>
            </a:ln>
            <a:effectLst/>
          </p:spPr>
        </p:pic>
        <p:sp>
          <p:nvSpPr>
            <p:cNvPr id="9" name="TextBox 8"/>
            <p:cNvSpPr txBox="1"/>
            <p:nvPr/>
          </p:nvSpPr>
          <p:spPr>
            <a:xfrm>
              <a:off x="8786811" y="325404"/>
              <a:ext cx="3286148" cy="1077218"/>
            </a:xfrm>
            <a:prstGeom prst="rect">
              <a:avLst/>
            </a:prstGeom>
            <a:noFill/>
          </p:spPr>
          <p:txBody>
            <a:bodyPr wrap="square" rtlCol="0">
              <a:spAutoFit/>
            </a:bodyPr>
            <a:lstStyle/>
            <a:p>
              <a:pPr algn="ctr"/>
              <a:r>
                <a:rPr lang="en-US" b="1" dirty="0"/>
                <a:t>Step – 9</a:t>
              </a:r>
              <a:br>
                <a:rPr lang="en-US" b="1" dirty="0"/>
              </a:br>
              <a:r>
                <a:rPr lang="en-US" b="1" dirty="0"/>
                <a:t>Test case 4 </a:t>
              </a: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pSp>
        <p:nvGrpSpPr>
          <p:cNvPr id="9" name="Group 8"/>
          <p:cNvGrpSpPr/>
          <p:nvPr/>
        </p:nvGrpSpPr>
        <p:grpSpPr>
          <a:xfrm>
            <a:off x="3240485" y="575816"/>
            <a:ext cx="8718286" cy="7813532"/>
            <a:chOff x="642879" y="611156"/>
            <a:chExt cx="8429684" cy="8464600"/>
          </a:xfrm>
        </p:grpSpPr>
        <p:pic>
          <p:nvPicPr>
            <p:cNvPr id="8194" name="Picture 2"/>
            <p:cNvPicPr>
              <a:picLocks noChangeAspect="1" noChangeArrowheads="1"/>
            </p:cNvPicPr>
            <p:nvPr/>
          </p:nvPicPr>
          <p:blipFill>
            <a:blip r:embed="rId2"/>
            <a:srcRect/>
            <a:stretch>
              <a:fillRect/>
            </a:stretch>
          </p:blipFill>
          <p:spPr bwMode="auto">
            <a:xfrm>
              <a:off x="1000069" y="7754956"/>
              <a:ext cx="7715304" cy="1320800"/>
            </a:xfrm>
            <a:prstGeom prst="rect">
              <a:avLst/>
            </a:prstGeom>
            <a:noFill/>
            <a:ln w="9525">
              <a:solidFill>
                <a:schemeClr val="accent1">
                  <a:lumMod val="50000"/>
                </a:schemeClr>
              </a:solidFill>
              <a:miter lim="800000"/>
              <a:headEnd/>
              <a:tailEnd/>
            </a:ln>
            <a:effectLst/>
          </p:spPr>
        </p:pic>
        <p:pic>
          <p:nvPicPr>
            <p:cNvPr id="8195" name="Picture 3"/>
            <p:cNvPicPr>
              <a:picLocks noChangeAspect="1" noChangeArrowheads="1"/>
            </p:cNvPicPr>
            <p:nvPr/>
          </p:nvPicPr>
          <p:blipFill>
            <a:blip r:embed="rId3"/>
            <a:srcRect/>
            <a:stretch>
              <a:fillRect/>
            </a:stretch>
          </p:blipFill>
          <p:spPr bwMode="auto">
            <a:xfrm>
              <a:off x="642879" y="1611288"/>
              <a:ext cx="4357718" cy="6000792"/>
            </a:xfrm>
            <a:prstGeom prst="rect">
              <a:avLst/>
            </a:prstGeom>
            <a:noFill/>
            <a:ln w="9525">
              <a:solidFill>
                <a:schemeClr val="accent1">
                  <a:lumMod val="50000"/>
                </a:schemeClr>
              </a:solidFill>
              <a:miter lim="800000"/>
              <a:headEnd/>
              <a:tailEnd/>
            </a:ln>
            <a:effectLst/>
          </p:spPr>
        </p:pic>
        <p:pic>
          <p:nvPicPr>
            <p:cNvPr id="8196" name="Picture 4"/>
            <p:cNvPicPr>
              <a:picLocks noChangeAspect="1" noChangeArrowheads="1"/>
            </p:cNvPicPr>
            <p:nvPr/>
          </p:nvPicPr>
          <p:blipFill>
            <a:blip r:embed="rId4"/>
            <a:srcRect/>
            <a:stretch>
              <a:fillRect/>
            </a:stretch>
          </p:blipFill>
          <p:spPr bwMode="auto">
            <a:xfrm>
              <a:off x="5214911" y="3182924"/>
              <a:ext cx="3857652" cy="4429156"/>
            </a:xfrm>
            <a:prstGeom prst="rect">
              <a:avLst/>
            </a:prstGeom>
            <a:noFill/>
            <a:ln w="9525">
              <a:solidFill>
                <a:schemeClr val="accent1">
                  <a:lumMod val="50000"/>
                </a:schemeClr>
              </a:solidFill>
              <a:miter lim="800000"/>
              <a:headEnd/>
              <a:tailEnd/>
            </a:ln>
            <a:effectLst/>
          </p:spPr>
        </p:pic>
        <p:sp>
          <p:nvSpPr>
            <p:cNvPr id="8" name="TextBox 7"/>
            <p:cNvSpPr txBox="1"/>
            <p:nvPr/>
          </p:nvSpPr>
          <p:spPr>
            <a:xfrm>
              <a:off x="1000069" y="611156"/>
              <a:ext cx="3286148" cy="1077218"/>
            </a:xfrm>
            <a:prstGeom prst="rect">
              <a:avLst/>
            </a:prstGeom>
            <a:noFill/>
          </p:spPr>
          <p:txBody>
            <a:bodyPr wrap="square" rtlCol="0">
              <a:spAutoFit/>
            </a:bodyPr>
            <a:lstStyle/>
            <a:p>
              <a:pPr algn="ctr"/>
              <a:r>
                <a:rPr lang="en-US" b="1" dirty="0"/>
                <a:t>Step – 9</a:t>
              </a:r>
              <a:br>
                <a:rPr lang="en-US" b="1" dirty="0"/>
              </a:br>
              <a:r>
                <a:rPr lang="en-US" b="1" dirty="0"/>
                <a:t>Test case 5 </a:t>
              </a: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40285" y="903520"/>
            <a:ext cx="14851856" cy="1100159"/>
          </a:xfrm>
        </p:spPr>
        <p:txBody>
          <a:bodyPr>
            <a:normAutofit/>
          </a:bodyPr>
          <a:lstStyle/>
          <a:p>
            <a:pPr algn="ctr"/>
            <a:r>
              <a:rPr lang="en-US" sz="4400" b="1" dirty="0">
                <a:solidFill>
                  <a:schemeClr val="accent2">
                    <a:lumMod val="50000"/>
                  </a:schemeClr>
                </a:solidFill>
                <a:latin typeface="Times New Roman" panose="02020603050405020304" pitchFamily="18" charset="0"/>
                <a:cs typeface="Times New Roman" panose="02020603050405020304" pitchFamily="18" charset="0"/>
              </a:rPr>
              <a:t>CONCLUISON</a:t>
            </a:r>
          </a:p>
        </p:txBody>
      </p:sp>
      <p:sp>
        <p:nvSpPr>
          <p:cNvPr id="4" name="Content Placeholder 3"/>
          <p:cNvSpPr>
            <a:spLocks noGrp="1"/>
          </p:cNvSpPr>
          <p:nvPr>
            <p:ph idx="1"/>
          </p:nvPr>
        </p:nvSpPr>
        <p:spPr>
          <a:xfrm>
            <a:off x="2016349" y="3024088"/>
            <a:ext cx="14455710" cy="5602937"/>
          </a:xfrm>
        </p:spPr>
        <p:txBody>
          <a:bodyPr>
            <a:noAutofit/>
          </a:bodyPr>
          <a:lstStyle/>
          <a:p>
            <a:pPr>
              <a:lnSpc>
                <a:spcPct val="100000"/>
              </a:lnSpc>
            </a:pPr>
            <a:r>
              <a:rPr lang="en-US" sz="2400" dirty="0">
                <a:latin typeface="Times New Roman" panose="02020603050405020304" pitchFamily="18" charset="0"/>
                <a:cs typeface="Times New Roman" panose="02020603050405020304" pitchFamily="18" charset="0"/>
              </a:rPr>
              <a:t>The proposed automated Network Intrusion Detection (NID) system addresses key security challenges in IoT environments by ensuring robust protection against evolving cyber threats.</a:t>
            </a:r>
          </a:p>
          <a:p>
            <a:pPr>
              <a:lnSpc>
                <a:spcPct val="100000"/>
              </a:lnSpc>
            </a:pPr>
            <a:r>
              <a:rPr lang="en-US" sz="2400" dirty="0">
                <a:latin typeface="Times New Roman" panose="02020603050405020304" pitchFamily="18" charset="0"/>
                <a:cs typeface="Times New Roman" panose="02020603050405020304" pitchFamily="18" charset="0"/>
              </a:rPr>
              <a:t>The integration of Filter, Wrapper, and Embedded Methods (Lasso with Random Forest and Recursive Feature Elimination - RFE) enhances dataset quality, improving machine learning model efficiency.</a:t>
            </a:r>
          </a:p>
          <a:p>
            <a:pPr>
              <a:lnSpc>
                <a:spcPct val="100000"/>
              </a:lnSpc>
            </a:pPr>
            <a:r>
              <a:rPr lang="en-US" sz="2400" dirty="0">
                <a:latin typeface="Times New Roman" panose="02020603050405020304" pitchFamily="18" charset="0"/>
                <a:cs typeface="Times New Roman" panose="02020603050405020304" pitchFamily="18" charset="0"/>
              </a:rPr>
              <a:t>SMOTE (Synthetic Minority Over-sampling Technique) effectively balances the dataset, improving the detection rate of minority attack classes and reducing classification bias.</a:t>
            </a:r>
          </a:p>
          <a:p>
            <a:pPr>
              <a:lnSpc>
                <a:spcPct val="100000"/>
              </a:lnSpc>
            </a:pPr>
            <a:r>
              <a:rPr lang="en-US" sz="2400" dirty="0">
                <a:latin typeface="Times New Roman" panose="02020603050405020304" pitchFamily="18" charset="0"/>
                <a:cs typeface="Times New Roman" panose="02020603050405020304" pitchFamily="18" charset="0"/>
              </a:rPr>
              <a:t>The Voting Classifier, combining Boosted Decision Trees, Bagging Random Forest, and LightGBM, delivers high detection accuracy and reduces false alarm rates, ensuring reliable intrusion detection.</a:t>
            </a:r>
          </a:p>
          <a:p>
            <a:pPr>
              <a:lnSpc>
                <a:spcPct val="100000"/>
              </a:lnSpc>
            </a:pPr>
            <a:r>
              <a:rPr lang="en-US" sz="2400" dirty="0">
                <a:latin typeface="Times New Roman" panose="02020603050405020304" pitchFamily="18" charset="0"/>
                <a:cs typeface="Times New Roman" panose="02020603050405020304" pitchFamily="18" charset="0"/>
              </a:rPr>
              <a:t>The system provides a valuable cybersecurity tool, allowing administrators to effectively safeguard IoT networks while maintaining the integrity and confidentiality of sensitive data.</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75197" y="1007864"/>
            <a:ext cx="14851856" cy="1100159"/>
          </a:xfrm>
        </p:spPr>
        <p:txBody>
          <a:bodyPr>
            <a:normAutofit/>
          </a:bodyPr>
          <a:lstStyle/>
          <a:p>
            <a:pPr algn="ctr"/>
            <a:r>
              <a:rPr lang="en-US" sz="4400" b="1" dirty="0">
                <a:solidFill>
                  <a:schemeClr val="accent2">
                    <a:lumMod val="50000"/>
                  </a:schemeClr>
                </a:solidFill>
                <a:latin typeface="Times New Roman" panose="02020603050405020304" pitchFamily="18" charset="0"/>
                <a:cs typeface="Times New Roman" panose="02020603050405020304" pitchFamily="18" charset="0"/>
              </a:rPr>
              <a:t>FUTURE SCOPE</a:t>
            </a:r>
          </a:p>
        </p:txBody>
      </p:sp>
      <p:sp>
        <p:nvSpPr>
          <p:cNvPr id="4" name="Content Placeholder 3"/>
          <p:cNvSpPr>
            <a:spLocks noGrp="1"/>
          </p:cNvSpPr>
          <p:nvPr>
            <p:ph idx="1"/>
          </p:nvPr>
        </p:nvSpPr>
        <p:spPr>
          <a:xfrm>
            <a:off x="1944341" y="2808064"/>
            <a:ext cx="14527718" cy="5818961"/>
          </a:xfrm>
        </p:spPr>
        <p:txBody>
          <a:bodyPr>
            <a:normAutofit/>
          </a:bodyPr>
          <a:lstStyle/>
          <a:p>
            <a:pPr>
              <a:lnSpc>
                <a:spcPct val="120000"/>
              </a:lnSpc>
              <a:buSzPct val="100000"/>
              <a:buFont typeface="Wingdings" pitchFamily="2" charset="2"/>
              <a:buChar char="Ø"/>
            </a:pPr>
            <a:r>
              <a:rPr lang="en-US" sz="2400" dirty="0">
                <a:latin typeface="Times New Roman" panose="02020603050405020304" pitchFamily="18" charset="0"/>
                <a:cs typeface="Times New Roman" panose="02020603050405020304" pitchFamily="18" charset="0"/>
              </a:rPr>
              <a:t>Enhancing the system to perform real-time monitoring and automated threat mitigation, enabling proactive responses to network intrusions in IoT environments.</a:t>
            </a:r>
          </a:p>
          <a:p>
            <a:pPr>
              <a:lnSpc>
                <a:spcPct val="120000"/>
              </a:lnSpc>
              <a:buSzPct val="100000"/>
              <a:buFont typeface="Wingdings" pitchFamily="2" charset="2"/>
              <a:buChar char="Ø"/>
            </a:pPr>
            <a:r>
              <a:rPr lang="en-US" sz="2400" dirty="0">
                <a:latin typeface="Times New Roman" panose="02020603050405020304" pitchFamily="18" charset="0"/>
                <a:cs typeface="Times New Roman" panose="02020603050405020304" pitchFamily="18" charset="0"/>
              </a:rPr>
              <a:t>Exploring advanced deep learning techniques, such as CNN, LSTM, or Transformers, to further improve intrusion detection accuracy and adaptability to new attack patterns.</a:t>
            </a:r>
          </a:p>
          <a:p>
            <a:pPr>
              <a:lnSpc>
                <a:spcPct val="120000"/>
              </a:lnSpc>
              <a:buSzPct val="100000"/>
              <a:buFont typeface="Wingdings" pitchFamily="2" charset="2"/>
              <a:buChar char="Ø"/>
            </a:pPr>
            <a:r>
              <a:rPr lang="en-US" sz="2400" dirty="0">
                <a:latin typeface="Times New Roman" panose="02020603050405020304" pitchFamily="18" charset="0"/>
                <a:cs typeface="Times New Roman" panose="02020603050405020304" pitchFamily="18" charset="0"/>
              </a:rPr>
              <a:t>Expanding the system’s capability to handle massive IoT infrastructures, ensuring efficient intrusion detection across diverse network architectures and edge computing environments.</a:t>
            </a:r>
          </a:p>
          <a:p>
            <a:pPr>
              <a:lnSpc>
                <a:spcPct val="120000"/>
              </a:lnSpc>
              <a:buSzPct val="100000"/>
              <a:buFont typeface="Wingdings" pitchFamily="2" charset="2"/>
              <a:buChar char="Ø"/>
            </a:pPr>
            <a:r>
              <a:rPr lang="en-US" sz="2400" dirty="0">
                <a:latin typeface="Times New Roman" panose="02020603050405020304" pitchFamily="18" charset="0"/>
                <a:cs typeface="Times New Roman" panose="02020603050405020304" pitchFamily="18" charset="0"/>
              </a:rPr>
              <a:t>Implementing continuous learning mechanisms where the model updates itself dynamically based on new attack data, improving its ability to detect emerging cyber threats.</a:t>
            </a:r>
          </a:p>
          <a:p>
            <a:pPr>
              <a:lnSpc>
                <a:spcPct val="120000"/>
              </a:lnSpc>
              <a:buSzPct val="100000"/>
              <a:buFont typeface="Wingdings" pitchFamily="2" charset="2"/>
              <a:buChar char="Ø"/>
            </a:pPr>
            <a:r>
              <a:rPr lang="en-US" sz="2400" dirty="0">
                <a:latin typeface="Times New Roman" panose="02020603050405020304" pitchFamily="18" charset="0"/>
                <a:cs typeface="Times New Roman" panose="02020603050405020304" pitchFamily="18" charset="0"/>
              </a:rPr>
              <a:t>Deploying the system in a cloud-based architecture to provide scalable, remote, and centralized security monitoring for IoT networks with minimal hardware dependency.</a:t>
            </a:r>
          </a:p>
        </p:txBody>
      </p:sp>
    </p:spTree>
    <p:extLst>
      <p:ext uri="{BB962C8B-B14F-4D97-AF65-F5344CB8AC3E}">
        <p14:creationId xmlns:p14="http://schemas.microsoft.com/office/powerpoint/2010/main" val="17606771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20203" y="903520"/>
            <a:ext cx="14851856" cy="1100159"/>
          </a:xfrm>
        </p:spPr>
        <p:txBody>
          <a:bodyPr>
            <a:normAutofit/>
          </a:bodyPr>
          <a:lstStyle/>
          <a:p>
            <a:pPr algn="ctr"/>
            <a:r>
              <a:rPr lang="en-US" sz="4400" b="1" dirty="0">
                <a:solidFill>
                  <a:schemeClr val="accent2">
                    <a:lumMod val="50000"/>
                  </a:schemeClr>
                </a:solidFill>
                <a:latin typeface="Times New Roman" panose="02020603050405020304" pitchFamily="18" charset="0"/>
                <a:cs typeface="Times New Roman" panose="02020603050405020304" pitchFamily="18" charset="0"/>
              </a:rPr>
              <a:t>REFERENCES</a:t>
            </a:r>
          </a:p>
        </p:txBody>
      </p:sp>
      <p:sp>
        <p:nvSpPr>
          <p:cNvPr id="4" name="Content Placeholder 3"/>
          <p:cNvSpPr>
            <a:spLocks noGrp="1"/>
          </p:cNvSpPr>
          <p:nvPr>
            <p:ph idx="1"/>
          </p:nvPr>
        </p:nvSpPr>
        <p:spPr/>
        <p:txBody>
          <a:bodyPr>
            <a:noAutofit/>
          </a:bodyPr>
          <a:lstStyle/>
          <a:p>
            <a:pPr marL="914400" indent="-914400">
              <a:lnSpc>
                <a:spcPct val="120000"/>
              </a:lnSpc>
              <a:buClr>
                <a:schemeClr val="accent2">
                  <a:lumMod val="50000"/>
                </a:schemeClr>
              </a:buClr>
              <a:buSzPct val="100000"/>
              <a:buFont typeface="+mj-lt"/>
              <a:buAutoNum type="arabicPeriod"/>
            </a:pPr>
            <a:r>
              <a:rPr lang="en-US" sz="2400" dirty="0">
                <a:latin typeface="Times New Roman" panose="02020603050405020304" pitchFamily="18" charset="0"/>
                <a:cs typeface="Times New Roman" panose="02020603050405020304" pitchFamily="18" charset="0"/>
              </a:rPr>
              <a:t>O. Abu </a:t>
            </a:r>
            <a:r>
              <a:rPr lang="en-US" sz="2400" dirty="0" err="1">
                <a:latin typeface="Times New Roman" panose="02020603050405020304" pitchFamily="18" charset="0"/>
                <a:cs typeface="Times New Roman" panose="02020603050405020304" pitchFamily="18" charset="0"/>
              </a:rPr>
              <a:t>Alghanam</a:t>
            </a:r>
            <a:r>
              <a:rPr lang="en-US" sz="2400" dirty="0">
                <a:latin typeface="Times New Roman" panose="02020603050405020304" pitchFamily="18" charset="0"/>
                <a:cs typeface="Times New Roman" panose="02020603050405020304" pitchFamily="18" charset="0"/>
              </a:rPr>
              <a:t>, W. </a:t>
            </a:r>
            <a:r>
              <a:rPr lang="en-US" sz="2400" dirty="0" err="1">
                <a:latin typeface="Times New Roman" panose="02020603050405020304" pitchFamily="18" charset="0"/>
                <a:cs typeface="Times New Roman" panose="02020603050405020304" pitchFamily="18" charset="0"/>
              </a:rPr>
              <a:t>Almobaideen</a:t>
            </a:r>
            <a:r>
              <a:rPr lang="en-US" sz="2400" dirty="0">
                <a:latin typeface="Times New Roman" panose="02020603050405020304" pitchFamily="18" charset="0"/>
                <a:cs typeface="Times New Roman" panose="02020603050405020304" pitchFamily="18" charset="0"/>
              </a:rPr>
              <a:t>, M. </a:t>
            </a:r>
            <a:r>
              <a:rPr lang="en-US" sz="2400" dirty="0" err="1">
                <a:latin typeface="Times New Roman" panose="02020603050405020304" pitchFamily="18" charset="0"/>
                <a:cs typeface="Times New Roman" panose="02020603050405020304" pitchFamily="18" charset="0"/>
              </a:rPr>
              <a:t>Saadeh</a:t>
            </a:r>
            <a:r>
              <a:rPr lang="en-US" sz="2400" dirty="0">
                <a:latin typeface="Times New Roman" panose="02020603050405020304" pitchFamily="18" charset="0"/>
                <a:cs typeface="Times New Roman" panose="02020603050405020304" pitchFamily="18" charset="0"/>
              </a:rPr>
              <a:t>, and O. </a:t>
            </a:r>
            <a:r>
              <a:rPr lang="en-US" sz="2400" dirty="0" err="1">
                <a:latin typeface="Times New Roman" panose="02020603050405020304" pitchFamily="18" charset="0"/>
                <a:cs typeface="Times New Roman" panose="02020603050405020304" pitchFamily="18" charset="0"/>
              </a:rPr>
              <a:t>Adwan</a:t>
            </a:r>
            <a:r>
              <a:rPr lang="en-US" sz="2400" dirty="0">
                <a:latin typeface="Times New Roman" panose="02020603050405020304" pitchFamily="18" charset="0"/>
                <a:cs typeface="Times New Roman" panose="02020603050405020304" pitchFamily="18" charset="0"/>
              </a:rPr>
              <a:t>, ‘‘An improved PIO feature selection algorithm for IoT network intrusion detection system based on ensemble learning,’’ Exp. Syst. Appl., vol. 213, Mar. 2023, Art. no. 118745. </a:t>
            </a:r>
            <a:endParaRPr lang="en-IN" sz="2400" dirty="0">
              <a:latin typeface="Times New Roman" panose="02020603050405020304" pitchFamily="18" charset="0"/>
              <a:cs typeface="Times New Roman" panose="02020603050405020304" pitchFamily="18" charset="0"/>
            </a:endParaRPr>
          </a:p>
          <a:p>
            <a:pPr marL="914400" indent="-914400">
              <a:lnSpc>
                <a:spcPct val="120000"/>
              </a:lnSpc>
              <a:buClr>
                <a:schemeClr val="accent2">
                  <a:lumMod val="50000"/>
                </a:schemeClr>
              </a:buClr>
              <a:buSzPct val="100000"/>
              <a:buFont typeface="+mj-lt"/>
              <a:buAutoNum type="arabicPeriod"/>
            </a:pPr>
            <a:r>
              <a:rPr lang="en-US" sz="2400" dirty="0">
                <a:latin typeface="Times New Roman" panose="02020603050405020304" pitchFamily="18" charset="0"/>
                <a:cs typeface="Times New Roman" panose="02020603050405020304" pitchFamily="18" charset="0"/>
              </a:rPr>
              <a:t>B. Sharma, L. Sharma, C. Lal, and S. Roy, ‘‘Anomaly based network intrusion detection for IoT attacks using deep learning technique,’’ </a:t>
            </a:r>
            <a:r>
              <a:rPr lang="en-US" sz="2400" dirty="0" err="1">
                <a:latin typeface="Times New Roman" panose="02020603050405020304" pitchFamily="18" charset="0"/>
                <a:cs typeface="Times New Roman" panose="02020603050405020304" pitchFamily="18" charset="0"/>
              </a:rPr>
              <a:t>Comput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Electr</a:t>
            </a:r>
            <a:r>
              <a:rPr lang="en-US" sz="2400" dirty="0">
                <a:latin typeface="Times New Roman" panose="02020603050405020304" pitchFamily="18" charset="0"/>
                <a:cs typeface="Times New Roman" panose="02020603050405020304" pitchFamily="18" charset="0"/>
              </a:rPr>
              <a:t>. Eng., vol. 107, Apr. 2023, Art. no. 108626.</a:t>
            </a:r>
            <a:endParaRPr lang="en-IN" sz="2400" dirty="0">
              <a:latin typeface="Times New Roman" panose="02020603050405020304" pitchFamily="18" charset="0"/>
              <a:cs typeface="Times New Roman" panose="02020603050405020304" pitchFamily="18" charset="0"/>
            </a:endParaRPr>
          </a:p>
          <a:p>
            <a:pPr marL="914400" indent="-914400">
              <a:lnSpc>
                <a:spcPct val="120000"/>
              </a:lnSpc>
              <a:buClr>
                <a:schemeClr val="accent2">
                  <a:lumMod val="50000"/>
                </a:schemeClr>
              </a:buClr>
              <a:buSzPct val="100000"/>
              <a:buFont typeface="+mj-lt"/>
              <a:buAutoNum type="arabicPeriod"/>
            </a:pPr>
            <a:r>
              <a:rPr lang="en-US" sz="2400" dirty="0">
                <a:latin typeface="Times New Roman" panose="02020603050405020304" pitchFamily="18" charset="0"/>
                <a:cs typeface="Times New Roman" panose="02020603050405020304" pitchFamily="18" charset="0"/>
              </a:rPr>
              <a:t>I. </a:t>
            </a:r>
            <a:r>
              <a:rPr lang="en-US" sz="2400" dirty="0" err="1">
                <a:latin typeface="Times New Roman" panose="02020603050405020304" pitchFamily="18" charset="0"/>
                <a:cs typeface="Times New Roman" panose="02020603050405020304" pitchFamily="18" charset="0"/>
              </a:rPr>
              <a:t>Debicha</a:t>
            </a:r>
            <a:r>
              <a:rPr lang="en-US" sz="2400" dirty="0">
                <a:latin typeface="Times New Roman" panose="02020603050405020304" pitchFamily="18" charset="0"/>
                <a:cs typeface="Times New Roman" panose="02020603050405020304" pitchFamily="18" charset="0"/>
              </a:rPr>
              <a:t>, R. </a:t>
            </a:r>
            <a:r>
              <a:rPr lang="en-US" sz="2400" dirty="0" err="1">
                <a:latin typeface="Times New Roman" panose="02020603050405020304" pitchFamily="18" charset="0"/>
                <a:cs typeface="Times New Roman" panose="02020603050405020304" pitchFamily="18" charset="0"/>
              </a:rPr>
              <a:t>Bauwens</a:t>
            </a:r>
            <a:r>
              <a:rPr lang="en-US" sz="2400" dirty="0">
                <a:latin typeface="Times New Roman" panose="02020603050405020304" pitchFamily="18" charset="0"/>
                <a:cs typeface="Times New Roman" panose="02020603050405020304" pitchFamily="18" charset="0"/>
              </a:rPr>
              <a:t>, T. </a:t>
            </a:r>
            <a:r>
              <a:rPr lang="en-US" sz="2400" dirty="0" err="1">
                <a:latin typeface="Times New Roman" panose="02020603050405020304" pitchFamily="18" charset="0"/>
                <a:cs typeface="Times New Roman" panose="02020603050405020304" pitchFamily="18" charset="0"/>
              </a:rPr>
              <a:t>Debatty</a:t>
            </a:r>
            <a:r>
              <a:rPr lang="en-US" sz="2400" dirty="0">
                <a:latin typeface="Times New Roman" panose="02020603050405020304" pitchFamily="18" charset="0"/>
                <a:cs typeface="Times New Roman" panose="02020603050405020304" pitchFamily="18" charset="0"/>
              </a:rPr>
              <a:t>, J.-M. </a:t>
            </a:r>
            <a:r>
              <a:rPr lang="en-US" sz="2400" dirty="0" err="1">
                <a:latin typeface="Times New Roman" panose="02020603050405020304" pitchFamily="18" charset="0"/>
                <a:cs typeface="Times New Roman" panose="02020603050405020304" pitchFamily="18" charset="0"/>
              </a:rPr>
              <a:t>Dricot</a:t>
            </a:r>
            <a:r>
              <a:rPr lang="en-US" sz="2400" dirty="0">
                <a:latin typeface="Times New Roman" panose="02020603050405020304" pitchFamily="18" charset="0"/>
                <a:cs typeface="Times New Roman" panose="02020603050405020304" pitchFamily="18" charset="0"/>
              </a:rPr>
              <a:t>, T. </a:t>
            </a:r>
            <a:r>
              <a:rPr lang="en-US" sz="2400" dirty="0" err="1">
                <a:latin typeface="Times New Roman" panose="02020603050405020304" pitchFamily="18" charset="0"/>
                <a:cs typeface="Times New Roman" panose="02020603050405020304" pitchFamily="18" charset="0"/>
              </a:rPr>
              <a:t>Kenaza</a:t>
            </a:r>
            <a:r>
              <a:rPr lang="en-US" sz="2400" dirty="0">
                <a:latin typeface="Times New Roman" panose="02020603050405020304" pitchFamily="18" charset="0"/>
                <a:cs typeface="Times New Roman" panose="02020603050405020304" pitchFamily="18" charset="0"/>
              </a:rPr>
              <a:t>, and W. </a:t>
            </a:r>
            <a:r>
              <a:rPr lang="en-US" sz="2400" dirty="0" err="1">
                <a:latin typeface="Times New Roman" panose="02020603050405020304" pitchFamily="18" charset="0"/>
                <a:cs typeface="Times New Roman" panose="02020603050405020304" pitchFamily="18" charset="0"/>
              </a:rPr>
              <a:t>Mees</a:t>
            </a:r>
            <a:r>
              <a:rPr lang="en-US" sz="2400" dirty="0">
                <a:latin typeface="Times New Roman" panose="02020603050405020304" pitchFamily="18" charset="0"/>
                <a:cs typeface="Times New Roman" panose="02020603050405020304" pitchFamily="18" charset="0"/>
              </a:rPr>
              <a:t>, ‘‘TAD: Transfer learning-based multi-adversarial detection of evasion attacks against network intrusion detection systems,’’ Future </a:t>
            </a:r>
            <a:r>
              <a:rPr lang="en-US" sz="2400" dirty="0" err="1">
                <a:latin typeface="Times New Roman" panose="02020603050405020304" pitchFamily="18" charset="0"/>
                <a:cs typeface="Times New Roman" panose="02020603050405020304" pitchFamily="18" charset="0"/>
              </a:rPr>
              <a:t>Gener</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Comput</a:t>
            </a:r>
            <a:r>
              <a:rPr lang="en-US" sz="2400" dirty="0">
                <a:latin typeface="Times New Roman" panose="02020603050405020304" pitchFamily="18" charset="0"/>
                <a:cs typeface="Times New Roman" panose="02020603050405020304" pitchFamily="18" charset="0"/>
              </a:rPr>
              <a:t>. Syst., vol. 138, pp. 185–197, Jan. 2023.</a:t>
            </a:r>
            <a:endParaRPr lang="en-IN" sz="2400" dirty="0">
              <a:latin typeface="Times New Roman" panose="02020603050405020304" pitchFamily="18" charset="0"/>
              <a:cs typeface="Times New Roman" panose="02020603050405020304" pitchFamily="18" charset="0"/>
            </a:endParaRPr>
          </a:p>
          <a:p>
            <a:pPr marL="914400" indent="-914400">
              <a:lnSpc>
                <a:spcPct val="120000"/>
              </a:lnSpc>
              <a:buClr>
                <a:schemeClr val="accent2">
                  <a:lumMod val="50000"/>
                </a:schemeClr>
              </a:buClr>
              <a:buSzPct val="100000"/>
              <a:buFont typeface="+mj-lt"/>
              <a:buAutoNum type="arabicPeriod"/>
            </a:pPr>
            <a:r>
              <a:rPr lang="en-US" sz="2400" dirty="0">
                <a:latin typeface="Times New Roman" panose="02020603050405020304" pitchFamily="18" charset="0"/>
                <a:cs typeface="Times New Roman" panose="02020603050405020304" pitchFamily="18" charset="0"/>
              </a:rPr>
              <a:t>W. Wang, S. Jian, Y. Tan, Q. Wu, and C. Huang, ‘‘Robust unsupervised network intrusion detection with self-supervised masked context reconstruction,’’ </a:t>
            </a:r>
            <a:r>
              <a:rPr lang="en-US" sz="2400" dirty="0" err="1">
                <a:latin typeface="Times New Roman" panose="02020603050405020304" pitchFamily="18" charset="0"/>
                <a:cs typeface="Times New Roman" panose="02020603050405020304" pitchFamily="18" charset="0"/>
              </a:rPr>
              <a:t>Comput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Secur</a:t>
            </a:r>
            <a:r>
              <a:rPr lang="en-US" sz="2400" dirty="0">
                <a:latin typeface="Times New Roman" panose="02020603050405020304" pitchFamily="18" charset="0"/>
                <a:cs typeface="Times New Roman" panose="02020603050405020304" pitchFamily="18" charset="0"/>
              </a:rPr>
              <a:t>., vol. 128, May 2023, Art. no. 103131.</a:t>
            </a:r>
            <a:endParaRPr lang="en-IN" sz="2400" dirty="0">
              <a:latin typeface="Times New Roman" panose="02020603050405020304" pitchFamily="18" charset="0"/>
              <a:cs typeface="Times New Roman" panose="02020603050405020304" pitchFamily="18" charset="0"/>
            </a:endParaRPr>
          </a:p>
          <a:p>
            <a:pPr marL="914400" indent="-914400">
              <a:lnSpc>
                <a:spcPct val="120000"/>
              </a:lnSpc>
              <a:buClr>
                <a:schemeClr val="accent2">
                  <a:lumMod val="50000"/>
                </a:schemeClr>
              </a:buClr>
              <a:buSzPct val="100000"/>
              <a:buFont typeface="+mj-lt"/>
              <a:buAutoNum type="arabicPeriod"/>
            </a:pPr>
            <a:r>
              <a:rPr lang="en-US" sz="2400" dirty="0">
                <a:latin typeface="Times New Roman" panose="02020603050405020304" pitchFamily="18" charset="0"/>
                <a:cs typeface="Times New Roman" panose="02020603050405020304" pitchFamily="18" charset="0"/>
              </a:rPr>
              <a:t>W. D. </a:t>
            </a:r>
            <a:r>
              <a:rPr lang="en-US" sz="2400" dirty="0" err="1">
                <a:latin typeface="Times New Roman" panose="02020603050405020304" pitchFamily="18" charset="0"/>
                <a:cs typeface="Times New Roman" panose="02020603050405020304" pitchFamily="18" charset="0"/>
              </a:rPr>
              <a:t>Xiong</a:t>
            </a:r>
            <a:r>
              <a:rPr lang="en-US" sz="2400" dirty="0">
                <a:latin typeface="Times New Roman" panose="02020603050405020304" pitchFamily="18" charset="0"/>
                <a:cs typeface="Times New Roman" panose="02020603050405020304" pitchFamily="18" charset="0"/>
              </a:rPr>
              <a:t>, K. L. Luo, and R. Li, ‘‘AIDTF: Adversarial training framework for network intrusion detection,’’ </a:t>
            </a:r>
            <a:r>
              <a:rPr lang="en-US" sz="2400" dirty="0" err="1">
                <a:latin typeface="Times New Roman" panose="02020603050405020304" pitchFamily="18" charset="0"/>
                <a:cs typeface="Times New Roman" panose="02020603050405020304" pitchFamily="18" charset="0"/>
              </a:rPr>
              <a:t>Comput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Secur</a:t>
            </a:r>
            <a:r>
              <a:rPr lang="en-US" sz="2400" dirty="0">
                <a:latin typeface="Times New Roman" panose="02020603050405020304" pitchFamily="18" charset="0"/>
                <a:cs typeface="Times New Roman" panose="02020603050405020304" pitchFamily="18" charset="0"/>
              </a:rPr>
              <a:t>., vol. 128, May 2023, Art. no. 103141.</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797541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4485</TotalTime>
  <Words>2995</Words>
  <Application>Microsoft Office PowerPoint</Application>
  <PresentationFormat>Custom</PresentationFormat>
  <Paragraphs>213</Paragraphs>
  <Slides>45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Arial</vt:lpstr>
      <vt:lpstr>Calibri</vt:lpstr>
      <vt:lpstr>Calibri Light</vt:lpstr>
      <vt:lpstr>Garamond</vt:lpstr>
      <vt:lpstr>Times New Roman</vt:lpstr>
      <vt:lpstr>Wingdings</vt:lpstr>
      <vt:lpstr>Retrospect</vt:lpstr>
      <vt:lpstr>PowerPoint Presentation</vt:lpstr>
      <vt:lpstr>PowerPoint Presentation</vt:lpstr>
      <vt:lpstr>PowerPoint Presentation</vt:lpstr>
      <vt:lpstr>ABSTRACT</vt:lpstr>
      <vt:lpstr>INTRODUCTION</vt:lpstr>
      <vt:lpstr>PROBLEM STATEMENT</vt:lpstr>
      <vt:lpstr>OBJECTIVE</vt:lpstr>
      <vt:lpstr>Literature Survey</vt:lpstr>
      <vt:lpstr>Literature Survey</vt:lpstr>
      <vt:lpstr>Literature Review / Research Gap  </vt:lpstr>
      <vt:lpstr>EXISTING SYSTEM</vt:lpstr>
      <vt:lpstr>DISADVANTAGES OF EXISTING SYSTEM</vt:lpstr>
      <vt:lpstr>PROPOSED SYSTEM</vt:lpstr>
      <vt:lpstr>ADVANTAGES OF PROPOSED SYSTEM</vt:lpstr>
      <vt:lpstr>EXTENSION  </vt:lpstr>
      <vt:lpstr>EXTENSION  </vt:lpstr>
      <vt:lpstr>Software And Hardware Requirements </vt:lpstr>
      <vt:lpstr>System Architecture</vt:lpstr>
      <vt:lpstr>DATA FLOW DIAGRAM</vt:lpstr>
      <vt:lpstr>USECASE DIAGRAM</vt:lpstr>
      <vt:lpstr>CLASS DIAGRAM</vt:lpstr>
      <vt:lpstr>ACTIVITY DIAGRAM</vt:lpstr>
      <vt:lpstr>SEQUENECE DIAGRAM</vt:lpstr>
      <vt:lpstr>COLLABORATION DIAGRAM</vt:lpstr>
      <vt:lpstr>COMPONENT DIAGRAM </vt:lpstr>
      <vt:lpstr>DEPLOYMENT DIAGRAM</vt:lpstr>
      <vt:lpstr>FLOW OF WORK /WORKING MODULES</vt:lpstr>
      <vt:lpstr>FLOW OF WORK /WORKING MODULES</vt:lpstr>
      <vt:lpstr>ALGORITHMS USED </vt:lpstr>
      <vt:lpstr>ALGORITHMS USED </vt:lpstr>
      <vt:lpstr>ALGORITHMS USED </vt:lpstr>
      <vt:lpstr>ALGORITHMS USED </vt:lpstr>
      <vt:lpstr>ALGORITHMS USED </vt:lpstr>
      <vt:lpstr>EXECUTION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CONCLUISON</vt:lpstr>
      <vt:lpstr>FUTURE SCOPE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TruProjects</dc:creator>
  <cp:lastModifiedBy>akula vaishu</cp:lastModifiedBy>
  <cp:revision>153</cp:revision>
  <dcterms:created xsi:type="dcterms:W3CDTF">2023-11-17T07:17:00Z</dcterms:created>
  <dcterms:modified xsi:type="dcterms:W3CDTF">2025-06-06T04:28:31Z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783BB33993344AE09842D9C41ADAA0DB_13</vt:lpwstr>
  </property>
  <property fmtid="{D5CDD505-2E9C-101B-9397-08002B2CF9AE}" pid="3" name="KSOProductBuildVer">
    <vt:lpwstr>1033-12.2.0.13306</vt:lpwstr>
  </property>
</Properties>
</file>